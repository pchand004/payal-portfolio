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did we use convenience sampling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AE6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7188" y="535781"/>
            <a:ext cx="4910138" cy="4071938"/>
          </a:xfrm>
          <a:prstGeom prst="rect">
            <a:avLst/>
          </a:prstGeom>
          <a:noFill/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95938" y="-40194"/>
            <a:ext cx="3548063" cy="51836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57188" y="535781"/>
            <a:ext cx="5367338" cy="2109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320"/>
              </a:lnSpc>
              <a:buNone/>
            </a:pPr>
            <a:r>
              <a:rPr lang="en-US" sz="3600" spc="-72" kern="0" dirty="0">
                <a:solidFill>
                  <a:srgbClr val="198F51">
                    <a:alpha val="99000"/>
                  </a:srgbClr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Understanding Food Practices of Middle Eastern International Students living in London: </a:t>
            </a:r>
            <a:endParaRPr lang="en-US" sz="3600" dirty="0"/>
          </a:p>
          <a:p>
            <a:pPr algn="l" indent="0" marL="0">
              <a:lnSpc>
                <a:spcPts val="3600"/>
              </a:lnSpc>
              <a:buNone/>
            </a:pPr>
            <a:r>
              <a:rPr lang="en-US" sz="2400" spc="-72" kern="0" dirty="0">
                <a:solidFill>
                  <a:srgbClr val="000000">
                    <a:alpha val="99000"/>
                  </a:srgbClr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A Mixed-Methods Study for HelloFresh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357188" y="2859881"/>
            <a:ext cx="5367338" cy="3667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spc="-48" kern="0" dirty="0">
                <a:solidFill>
                  <a:srgbClr val="198F51">
                    <a:alpha val="99000"/>
                  </a:srgbClr>
                </a:solidFill>
                <a:latin typeface="Instrument Serif" pitchFamily="34" charset="0"/>
                <a:ea typeface="Instrument Serif" pitchFamily="34" charset="-122"/>
                <a:cs typeface="Instrument Serif" pitchFamily="34" charset="-120"/>
              </a:rPr>
              <a:t>IDLE IBIS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357188" y="3440906"/>
            <a:ext cx="5367338" cy="11668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07"/>
              </a:lnSpc>
              <a:buNone/>
            </a:pPr>
            <a:r>
              <a:rPr lang="en-US" sz="975" spc="-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Lisa Pinto,  CID: 06054061</a:t>
            </a:r>
            <a:endParaRPr lang="en-US" sz="975" dirty="0"/>
          </a:p>
          <a:p>
            <a:pPr algn="l" indent="0" marL="0">
              <a:lnSpc>
                <a:spcPts val="1307"/>
              </a:lnSpc>
              <a:buNone/>
            </a:pPr>
            <a:r>
              <a:rPr lang="en-US" sz="975" b="1" spc="-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Payal Chand,   CID: 06067958</a:t>
            </a:r>
            <a:endParaRPr lang="en-US" sz="975" dirty="0"/>
          </a:p>
          <a:p>
            <a:pPr algn="l" indent="0" marL="0">
              <a:lnSpc>
                <a:spcPts val="1307"/>
              </a:lnSpc>
              <a:buNone/>
            </a:pPr>
            <a:r>
              <a:rPr lang="en-US" sz="975" spc="-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Manjusha Chandran,  CID:06052953</a:t>
            </a:r>
            <a:endParaRPr lang="en-US" sz="975" dirty="0"/>
          </a:p>
          <a:p>
            <a:pPr algn="l" indent="0" marL="0">
              <a:lnSpc>
                <a:spcPts val="1307"/>
              </a:lnSpc>
              <a:buNone/>
            </a:pPr>
            <a:r>
              <a:rPr lang="en-US" sz="975" spc="-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Jack Pritchard, CID: 06059516</a:t>
            </a:r>
            <a:endParaRPr lang="en-US" sz="975" dirty="0"/>
          </a:p>
          <a:p>
            <a:pPr algn="l" indent="0" marL="0">
              <a:lnSpc>
                <a:spcPts val="1307"/>
              </a:lnSpc>
              <a:buNone/>
            </a:pPr>
            <a:r>
              <a:rPr lang="en-US" sz="975" spc="-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Lewis Matthews,  CID: 06059263</a:t>
            </a:r>
            <a:endParaRPr lang="en-US" sz="975" dirty="0"/>
          </a:p>
          <a:p>
            <a:pPr algn="l" indent="0" marL="0">
              <a:lnSpc>
                <a:spcPts val="1307"/>
              </a:lnSpc>
              <a:buNone/>
            </a:pPr>
            <a:r>
              <a:rPr lang="en-US" sz="975" b="1" spc="-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Imperial College London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BAE6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 rot="5426043">
            <a:off x="1254910" y="3052763"/>
            <a:ext cx="628668" cy="0"/>
          </a:xfrm>
          <a:prstGeom prst="line">
            <a:avLst/>
          </a:prstGeom>
          <a:noFill/>
          <a:ln w="76200">
            <a:solidFill>
              <a:srgbClr val="192716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 rot="5426043">
            <a:off x="4602947" y="2981325"/>
            <a:ext cx="628668" cy="0"/>
          </a:xfrm>
          <a:prstGeom prst="line">
            <a:avLst/>
          </a:prstGeom>
          <a:noFill/>
          <a:ln w="76200">
            <a:solidFill>
              <a:srgbClr val="19271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82158" y="2643188"/>
            <a:ext cx="3419475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HelloFresh currently lacks options that reflect the authentic ingredients, cooking methods, and dietary requirements of Middle Eastern students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2052637" y="2085975"/>
            <a:ext cx="3571875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Middle Eastern Students living in London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9253538" y="2628900"/>
            <a:ext cx="4343400" cy="8001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Tend to include broadly “Middle Eastern-inspired” meals than regionally specific options, overlooking the diversity of cuisines within the Middle East and limiting their practical appeal for Middle Eastern users.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419100" y="1028700"/>
            <a:ext cx="8901113" cy="781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spc="39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HelloFresh </a:t>
            </a:r>
            <a:pPr algn="l" indent="0" marL="0">
              <a:lnSpc>
                <a:spcPts val="1913"/>
              </a:lnSpc>
              <a:buNone/>
            </a:pPr>
            <a:r>
              <a:rPr lang="en-US" sz="1200" spc="3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a German food company that has a significant presence in the UK. The main competitors are Goustou, SimplyCook, and Mindful Chef. In 2023, for the 2 million households that use meal-kit services, HelloFresh had the biggest market share in the UK of (</a:t>
            </a:r>
            <a:pPr algn="l" indent="0" marL="0">
              <a:lnSpc>
                <a:spcPts val="1913"/>
              </a:lnSpc>
              <a:buNone/>
            </a:pPr>
            <a:r>
              <a:rPr lang="en-US" sz="1500" b="1" spc="39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43%</a:t>
            </a:r>
            <a:pPr algn="l" indent="0" marL="0">
              <a:lnSpc>
                <a:spcPts val="1913"/>
              </a:lnSpc>
              <a:buNone/>
            </a:pPr>
            <a:r>
              <a:rPr lang="en-US" sz="1200" spc="3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[1]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376238" y="3957638"/>
            <a:ext cx="1819275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500" b="1" spc="30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Problem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19100" y="371475"/>
            <a:ext cx="7800975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spc="-54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Brief Introduction &amp; Problem Space</a:t>
            </a:r>
            <a:endParaRPr lang="en-US" sz="2700" dirty="0"/>
          </a:p>
        </p:txBody>
      </p:sp>
      <p:sp>
        <p:nvSpPr>
          <p:cNvPr id="12" name="Text 8"/>
          <p:cNvSpPr/>
          <p:nvPr/>
        </p:nvSpPr>
        <p:spPr>
          <a:xfrm>
            <a:off x="361950" y="2619375"/>
            <a:ext cx="1652588" cy="8143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500" b="1" spc="-30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Gaps in HelloFresh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76238" y="2057400"/>
            <a:ext cx="213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spc="-30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Audience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00050" y="4271963"/>
            <a:ext cx="8801100" cy="53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15"/>
              </a:lnSpc>
              <a:buNone/>
            </a:pPr>
            <a:r>
              <a:rPr lang="en-US" sz="1500" b="1" spc="-1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Middle Eastern international students</a:t>
            </a:r>
            <a:pPr algn="l" indent="0" marL="0">
              <a:lnSpc>
                <a:spcPts val="2115"/>
              </a:lnSpc>
              <a:buNone/>
            </a:pPr>
            <a:r>
              <a:rPr lang="en-US" sz="1500" spc="-1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face cultural challenges cooking in the UK and current meal kit services do not meaningfully meet their needs.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043488" y="2714625"/>
            <a:ext cx="4171950" cy="528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050" spc="-2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menus are mostly generic with ‘Middle Eastern-inspired’ dishes, lacking the regional authenticity and diversity users expect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BAE6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266825"/>
            <a:ext cx="4291013" cy="923925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652463" y="2576513"/>
            <a:ext cx="3838575" cy="457200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 rot="5426043">
            <a:off x="206725" y="1633541"/>
            <a:ext cx="514371" cy="0"/>
          </a:xfrm>
          <a:prstGeom prst="line">
            <a:avLst/>
          </a:prstGeom>
          <a:noFill/>
          <a:ln w="68926">
            <a:solidFill>
              <a:srgbClr val="1927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5426043">
            <a:off x="201963" y="2943228"/>
            <a:ext cx="514371" cy="0"/>
          </a:xfrm>
          <a:prstGeom prst="line">
            <a:avLst/>
          </a:prstGeom>
          <a:noFill/>
          <a:ln w="68926">
            <a:solidFill>
              <a:srgbClr val="1927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26043">
            <a:off x="197200" y="4181478"/>
            <a:ext cx="514371" cy="0"/>
          </a:xfrm>
          <a:prstGeom prst="line">
            <a:avLst/>
          </a:prstGeom>
          <a:noFill/>
          <a:ln w="68926">
            <a:solidFill>
              <a:srgbClr val="19271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13" y="0"/>
            <a:ext cx="9120188" cy="514350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595563"/>
            <a:ext cx="481012" cy="14028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4350" y="419100"/>
            <a:ext cx="7800975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spc="-54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 Aims &amp; Objectives</a:t>
            </a:r>
            <a:endParaRPr lang="en-US" sz="2700" dirty="0"/>
          </a:p>
        </p:txBody>
      </p:sp>
      <p:sp>
        <p:nvSpPr>
          <p:cNvPr id="10" name="Text 6"/>
          <p:cNvSpPr/>
          <p:nvPr/>
        </p:nvSpPr>
        <p:spPr>
          <a:xfrm>
            <a:off x="5414963" y="2033588"/>
            <a:ext cx="3886200" cy="1123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05"/>
              </a:lnSpc>
              <a:buNone/>
            </a:pPr>
            <a:r>
              <a:rPr lang="en-US" sz="1500" b="1" spc="-30" kern="0" dirty="0">
                <a:solidFill>
                  <a:srgbClr val="1E1E1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Translate these insights into product and service recommendations for HelloFresh, including potential new consumer segmentation strategies.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414963" y="1057275"/>
            <a:ext cx="3886200" cy="280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05"/>
              </a:lnSpc>
              <a:buNone/>
            </a:pPr>
            <a:r>
              <a:rPr lang="en-US" sz="1500" b="1" spc="-30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***Exploratory Sequential Design***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52463" y="3100388"/>
            <a:ext cx="4295775" cy="390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125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understand how food helps them recreate a sense of belonging while adapting to life in a new country.</a:t>
            </a:r>
            <a:endParaRPr lang="en-US" sz="1125" dirty="0"/>
          </a:p>
        </p:txBody>
      </p:sp>
      <p:sp>
        <p:nvSpPr>
          <p:cNvPr id="13" name="Text 9"/>
          <p:cNvSpPr/>
          <p:nvPr/>
        </p:nvSpPr>
        <p:spPr>
          <a:xfrm>
            <a:off x="581025" y="4338638"/>
            <a:ext cx="4919663" cy="585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125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examine barriers such as cost, time limitations and unfamiliar food environments that influence their ability to cook comfortably and consistently.</a:t>
            </a:r>
            <a:endParaRPr lang="en-US" sz="1125" dirty="0"/>
          </a:p>
        </p:txBody>
      </p:sp>
      <p:sp>
        <p:nvSpPr>
          <p:cNvPr id="14" name="Text 10"/>
          <p:cNvSpPr/>
          <p:nvPr/>
        </p:nvSpPr>
        <p:spPr>
          <a:xfrm>
            <a:off x="609600" y="3790950"/>
            <a:ext cx="450056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practical, financial, and cultural challenges affecting
their food practices.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652463" y="2576513"/>
            <a:ext cx="42957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Explore their lived experiences, cultural meanings, and emotional attachments to food.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09600" y="1266825"/>
            <a:ext cx="474821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how and why Middle Eastern international students in the UK shop, cook, and eat.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609600" y="1800225"/>
            <a:ext cx="4748213" cy="390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125" spc="-1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uncover the motivations behind their food decisions, from shopping habits to the types of meals they prepare.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BAE6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95746" y="1004887"/>
            <a:ext cx="2409825" cy="571500"/>
          </a:xfrm>
          <a:prstGeom prst="roundRect">
            <a:avLst>
              <a:gd name="adj" fmla="val 25600"/>
            </a:avLst>
          </a:prstGeom>
          <a:solidFill>
            <a:srgbClr val="198F51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 rot="5426043">
            <a:off x="2840388" y="1281116"/>
            <a:ext cx="514371" cy="0"/>
          </a:xfrm>
          <a:prstGeom prst="line">
            <a:avLst/>
          </a:prstGeom>
          <a:noFill/>
          <a:ln w="68926">
            <a:solidFill>
              <a:srgbClr val="1927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71596" y="1004887"/>
            <a:ext cx="1776413" cy="571500"/>
          </a:xfrm>
          <a:prstGeom prst="roundRect">
            <a:avLst>
              <a:gd name="adj" fmla="val 25600"/>
            </a:avLst>
          </a:prstGeom>
          <a:solidFill>
            <a:srgbClr val="198F51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 rot="5426043">
            <a:off x="116238" y="1300166"/>
            <a:ext cx="514371" cy="0"/>
          </a:xfrm>
          <a:prstGeom prst="line">
            <a:avLst/>
          </a:prstGeom>
          <a:noFill/>
          <a:ln w="68926">
            <a:solidFill>
              <a:srgbClr val="1927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5671" y="985838"/>
            <a:ext cx="2566988" cy="571500"/>
          </a:xfrm>
          <a:prstGeom prst="roundRect">
            <a:avLst>
              <a:gd name="adj" fmla="val 25600"/>
            </a:avLst>
          </a:prstGeom>
          <a:solidFill>
            <a:srgbClr val="198F51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 rot="5426043">
            <a:off x="6050313" y="1262066"/>
            <a:ext cx="514371" cy="0"/>
          </a:xfrm>
          <a:prstGeom prst="line">
            <a:avLst/>
          </a:prstGeom>
          <a:noFill/>
          <a:ln w="68926">
            <a:solidFill>
              <a:srgbClr val="19271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188" y="1290638"/>
            <a:ext cx="619125" cy="140283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0700" y="1252538"/>
            <a:ext cx="619125" cy="14028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247160" y="1162050"/>
            <a:ext cx="2476500" cy="219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050" b="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1 - Qualitative Study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523010" y="1181100"/>
            <a:ext cx="1166812" cy="219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050" b="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Screener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457085" y="1143000"/>
            <a:ext cx="2476500" cy="219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050" b="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2 - Quantitative Study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323850" y="328613"/>
            <a:ext cx="7800975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spc="-54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Methodology Overview</a:t>
            </a:r>
            <a:endParaRPr lang="en-US" sz="2700" dirty="0"/>
          </a:p>
        </p:txBody>
      </p:sp>
      <p:sp>
        <p:nvSpPr>
          <p:cNvPr id="15" name="Text 10"/>
          <p:cNvSpPr/>
          <p:nvPr/>
        </p:nvSpPr>
        <p:spPr>
          <a:xfrm>
            <a:off x="323850" y="1900238"/>
            <a:ext cx="2519363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Approach:</a:t>
            </a:r>
            <a:endParaRPr lang="en-US" sz="1350" dirty="0"/>
          </a:p>
          <a:p>
            <a:pPr algn="l" indent="0" marL="0">
              <a:lnSpc>
                <a:spcPts val="1782"/>
              </a:lnSpc>
              <a:buNone/>
            </a:pPr>
            <a:r>
              <a:rPr lang="en-US" sz="1350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Self-selected Convenience Sampling 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3276600" y="1900238"/>
            <a:ext cx="2519363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Approach:</a:t>
            </a:r>
            <a:endParaRPr lang="en-US" sz="1350" dirty="0"/>
          </a:p>
          <a:p>
            <a:pPr algn="l" indent="0" marL="0">
              <a:lnSpc>
                <a:spcPts val="1782"/>
              </a:lnSpc>
              <a:buNone/>
            </a:pPr>
            <a:r>
              <a:rPr lang="en-US" sz="1350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Diary Study &amp; Follow-up Interview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557963" y="1900238"/>
            <a:ext cx="2519363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Approach:</a:t>
            </a:r>
            <a:endParaRPr lang="en-US" sz="1350" dirty="0"/>
          </a:p>
          <a:p>
            <a:pPr algn="l" indent="0" marL="0">
              <a:lnSpc>
                <a:spcPts val="1782"/>
              </a:lnSpc>
              <a:buNone/>
            </a:pPr>
            <a:r>
              <a:rPr lang="en-US" sz="1350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Surveys (Microsoft Forms)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323850" y="2728913"/>
            <a:ext cx="2419350" cy="133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07"/>
              </a:lnSpc>
              <a:buNone/>
            </a:pPr>
            <a:r>
              <a:rPr lang="en-US" sz="975" b="1" spc="-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Eligibility Criteria:</a:t>
            </a:r>
            <a:endParaRPr lang="en-US" sz="975" dirty="0"/>
          </a:p>
          <a:p>
            <a:pPr algn="l" marL="342900" indent="-342900">
              <a:lnSpc>
                <a:spcPts val="1307"/>
              </a:lnSpc>
              <a:buSzPct val="100000"/>
              <a:buChar char="•"/>
            </a:pPr>
            <a:r>
              <a:rPr lang="en-US" sz="975" spc="-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be between 18 to 35 years old.</a:t>
            </a:r>
            <a:endParaRPr lang="en-US" sz="975" dirty="0"/>
          </a:p>
          <a:p>
            <a:pPr algn="l" marL="342900" indent="-342900">
              <a:lnSpc>
                <a:spcPts val="1307"/>
              </a:lnSpc>
              <a:buSzPct val="100000"/>
              <a:buChar char="•"/>
            </a:pPr>
            <a:r>
              <a:rPr lang="en-US" sz="975" spc="-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Should be Middle Eastern university students in London</a:t>
            </a:r>
            <a:endParaRPr lang="en-US" sz="975" dirty="0"/>
          </a:p>
          <a:p>
            <a:pPr algn="l" marL="342900" indent="-342900">
              <a:lnSpc>
                <a:spcPts val="1307"/>
              </a:lnSpc>
              <a:buSzPct val="100000"/>
              <a:buChar char="•"/>
            </a:pPr>
            <a:r>
              <a:rPr lang="en-US" sz="975" spc="-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Should currently reside in the UK and have been here for not more than 3 years</a:t>
            </a:r>
            <a:endParaRPr lang="en-US" sz="975" dirty="0"/>
          </a:p>
        </p:txBody>
      </p:sp>
      <p:sp>
        <p:nvSpPr>
          <p:cNvPr id="19" name="Text 14"/>
          <p:cNvSpPr/>
          <p:nvPr/>
        </p:nvSpPr>
        <p:spPr>
          <a:xfrm>
            <a:off x="3257550" y="2724150"/>
            <a:ext cx="2419350" cy="18335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07"/>
              </a:lnSpc>
              <a:buNone/>
            </a:pPr>
            <a:r>
              <a:rPr lang="en-US" sz="975" b="1" spc="-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Participants:</a:t>
            </a:r>
            <a:endParaRPr lang="en-US" sz="975" dirty="0"/>
          </a:p>
          <a:p>
            <a:pPr algn="l" marL="342900" indent="-342900">
              <a:lnSpc>
                <a:spcPts val="1307"/>
              </a:lnSpc>
              <a:buSzPct val="100000"/>
              <a:buChar char="•"/>
            </a:pPr>
            <a:r>
              <a:rPr lang="en-US" sz="975" spc="-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Participants within 18-25 age range</a:t>
            </a:r>
            <a:endParaRPr lang="en-US" sz="975" dirty="0"/>
          </a:p>
          <a:p>
            <a:pPr algn="l" marL="342900" indent="-342900">
              <a:lnSpc>
                <a:spcPts val="1307"/>
              </a:lnSpc>
              <a:buSzPct val="100000"/>
              <a:buChar char="•"/>
            </a:pPr>
            <a:r>
              <a:rPr lang="en-US" sz="975" spc="-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Country: </a:t>
            </a:r>
            <a:endParaRPr lang="en-US" sz="975" dirty="0"/>
          </a:p>
          <a:p>
            <a:pPr algn="l" marL="342900" indent="-342900">
              <a:lnSpc>
                <a:spcPts val="1307"/>
              </a:lnSpc>
              <a:buSzPct val="100000"/>
              <a:buFont typeface="+mj-lt"/>
              <a:buAutoNum type="arabicPeriod" startAt="1"/>
            </a:pPr>
            <a:r>
              <a:rPr lang="en-US" sz="975" spc="-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Lebanon</a:t>
            </a:r>
            <a:endParaRPr lang="en-US" sz="975" dirty="0"/>
          </a:p>
          <a:p>
            <a:pPr algn="l" marL="342900" indent="-342900">
              <a:lnSpc>
                <a:spcPts val="1307"/>
              </a:lnSpc>
              <a:buSzPct val="100000"/>
              <a:buFont typeface="+mj-lt"/>
              <a:buAutoNum type="arabicPeriod" startAt="1"/>
            </a:pPr>
            <a:r>
              <a:rPr lang="en-US" sz="975" spc="-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Turkey</a:t>
            </a:r>
            <a:endParaRPr lang="en-US" sz="975" dirty="0"/>
          </a:p>
          <a:p>
            <a:pPr algn="l" marL="342900" indent="-342900">
              <a:lnSpc>
                <a:spcPts val="1307"/>
              </a:lnSpc>
              <a:buSzPct val="100000"/>
              <a:buFont typeface="+mj-lt"/>
              <a:buAutoNum type="arabicPeriod" startAt="1"/>
            </a:pPr>
            <a:r>
              <a:rPr lang="en-US" sz="975" spc="-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Bahrain</a:t>
            </a:r>
            <a:endParaRPr lang="en-US" sz="975" dirty="0"/>
          </a:p>
          <a:p>
            <a:pPr algn="l" marL="342900" indent="-342900">
              <a:lnSpc>
                <a:spcPts val="1307"/>
              </a:lnSpc>
              <a:buSzPct val="100000"/>
              <a:buFont typeface="+mj-lt"/>
              <a:buAutoNum type="arabicPeriod" startAt="1"/>
            </a:pPr>
            <a:r>
              <a:rPr lang="en-US" sz="975" spc="-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Iran</a:t>
            </a:r>
            <a:endParaRPr lang="en-US" sz="975" dirty="0"/>
          </a:p>
          <a:p>
            <a:pPr algn="l" marL="342900" indent="-342900">
              <a:lnSpc>
                <a:spcPts val="1307"/>
              </a:lnSpc>
              <a:buSzPct val="100000"/>
              <a:buFont typeface="+mj-lt"/>
              <a:buAutoNum type="arabicPeriod" startAt="1"/>
            </a:pPr>
            <a:r>
              <a:rPr lang="en-US" sz="975" spc="-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Saudi Arabia</a:t>
            </a:r>
            <a:endParaRPr lang="en-US" sz="975" dirty="0"/>
          </a:p>
          <a:p>
            <a:pPr algn="l" marL="342900" indent="-342900">
              <a:lnSpc>
                <a:spcPts val="1307"/>
              </a:lnSpc>
              <a:buSzPct val="100000"/>
              <a:buChar char="•"/>
            </a:pPr>
            <a:r>
              <a:rPr lang="en-US" sz="975" spc="-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Held Online (WhatsApp messaging) for 5 days </a:t>
            </a:r>
            <a:endParaRPr lang="en-US" sz="975" dirty="0"/>
          </a:p>
        </p:txBody>
      </p:sp>
      <p:sp>
        <p:nvSpPr>
          <p:cNvPr id="20" name="Text 15"/>
          <p:cNvSpPr/>
          <p:nvPr/>
        </p:nvSpPr>
        <p:spPr>
          <a:xfrm>
            <a:off x="6572250" y="2728913"/>
            <a:ext cx="2419350" cy="5000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07"/>
              </a:lnSpc>
              <a:buNone/>
            </a:pPr>
            <a:r>
              <a:rPr lang="en-US" sz="975" b="1" spc="-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Participants:</a:t>
            </a:r>
            <a:endParaRPr lang="en-US" sz="975" dirty="0"/>
          </a:p>
          <a:p>
            <a:pPr algn="l" marL="342900" indent="-342900">
              <a:lnSpc>
                <a:spcPts val="1307"/>
              </a:lnSpc>
              <a:buSzPct val="100000"/>
              <a:buChar char="•"/>
            </a:pPr>
            <a:r>
              <a:rPr lang="en-US" sz="975" spc="-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 Responses</a:t>
            </a:r>
            <a:endParaRPr lang="en-US" sz="975" dirty="0"/>
          </a:p>
          <a:p>
            <a:pPr algn="l" marL="342900" indent="-342900">
              <a:lnSpc>
                <a:spcPts val="1307"/>
              </a:lnSpc>
              <a:buSzPct val="100000"/>
              <a:buChar char="•"/>
            </a:pPr>
            <a:r>
              <a:rPr lang="en-US" sz="975" spc="-5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Wider country origin 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BAE6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6363" y="962025"/>
            <a:ext cx="3095625" cy="393344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0" y="962025"/>
            <a:ext cx="3095625" cy="118826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9600" y="371475"/>
            <a:ext cx="7800975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spc="-54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Screener</a:t>
            </a:r>
            <a:endParaRPr lang="en-US" sz="2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BAE6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90525"/>
            <a:ext cx="839152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b="1" spc="-66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Qualitative Phase (Big Q)(24th Oct) – </a:t>
            </a:r>
            <a:pPr algn="l" indent="0" marL="0">
              <a:lnSpc>
                <a:spcPts val="3600"/>
              </a:lnSpc>
              <a:buNone/>
            </a:pPr>
            <a:r>
              <a:rPr lang="en-US" sz="3000" spc="-66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Exploratory and theory-generating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19125" y="1652588"/>
            <a:ext cx="682466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2462213"/>
            <a:ext cx="682466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19125" y="3948112"/>
            <a:ext cx="682466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19125" y="1881187"/>
            <a:ext cx="838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lived experiences, meanings, and challenges of food preparation for Middle Eastern students living in London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19125" y="2747963"/>
            <a:ext cx="838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1782"/>
              </a:lnSpc>
              <a:buSzPct val="100000"/>
              <a:buChar char="•"/>
            </a:pPr>
            <a:r>
              <a:rPr lang="en-US" sz="1350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do Middle Eastern students plan, shop for, and cook meals in the UK?</a:t>
            </a:r>
            <a:endParaRPr lang="en-US" sz="1350" dirty="0"/>
          </a:p>
          <a:p>
            <a:pPr algn="l" marL="342900" indent="-342900">
              <a:lnSpc>
                <a:spcPts val="1782"/>
              </a:lnSpc>
              <a:buSzPct val="100000"/>
              <a:buChar char="•"/>
            </a:pPr>
            <a:r>
              <a:rPr lang="en-US" sz="1350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meanings and emotions are attached to food, cooking, and cultural identity?</a:t>
            </a:r>
            <a:endParaRPr lang="en-US" sz="1350" dirty="0"/>
          </a:p>
          <a:p>
            <a:pPr algn="l" marL="342900" indent="-342900">
              <a:lnSpc>
                <a:spcPts val="1782"/>
              </a:lnSpc>
              <a:buSzPct val="100000"/>
              <a:buChar char="•"/>
            </a:pPr>
            <a:r>
              <a:rPr lang="en-US" sz="1350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barriers (e.g. halal access, budgeting, ingredient substitutions) do they face?</a:t>
            </a:r>
            <a:endParaRPr lang="en-US" sz="1350" dirty="0"/>
          </a:p>
          <a:p>
            <a:pPr algn="l" marL="342900" indent="-342900">
              <a:lnSpc>
                <a:spcPts val="1782"/>
              </a:lnSpc>
              <a:buSzPct val="100000"/>
              <a:buChar char="•"/>
            </a:pPr>
            <a:r>
              <a:rPr lang="en-US" sz="1350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forms of support or services would improve their cooking and shopping experience?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14363" y="4176712"/>
            <a:ext cx="838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7-day food diaries (meals, photos, reflections, relative costs: low, medium, high)</a:t>
            </a:r>
            <a:endParaRPr lang="en-US" sz="1350" dirty="0"/>
          </a:p>
          <a:p>
            <a:pPr algn="l" indent="0" marL="0">
              <a:lnSpc>
                <a:spcPts val="1782"/>
              </a:lnSpc>
              <a:buNone/>
            </a:pPr>
            <a:r>
              <a:rPr lang="en-US" sz="1350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Semi-structured interviews (10 minutes; guided by diary content)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BAE6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90525"/>
            <a:ext cx="8267700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spc="-54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Qualitative Sampling and Recruitment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109663"/>
            <a:ext cx="8053387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809"/>
              </a:lnSpc>
              <a:buNone/>
            </a:pPr>
            <a:r>
              <a:rPr lang="en-US" sz="1350" b="1" spc="-7" kern="0" dirty="0">
                <a:solidFill>
                  <a:srgbClr val="1E1E1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Population: </a:t>
            </a:r>
            <a:pPr algn="l" indent="0" marL="0">
              <a:lnSpc>
                <a:spcPts val="1809"/>
              </a:lnSpc>
              <a:buNone/>
            </a:pPr>
            <a:r>
              <a:rPr lang="en-US" sz="1350" spc="-7" kern="0" dirty="0">
                <a:solidFill>
                  <a:srgbClr val="1E1E1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Healthy, adult Middle Eastern International students (18–35) living in London.</a:t>
            </a:r>
            <a:endParaRPr lang="en-US" sz="1350" dirty="0"/>
          </a:p>
          <a:p>
            <a:pPr algn="l" indent="0" marL="0">
              <a:lnSpc>
                <a:spcPts val="1809"/>
              </a:lnSpc>
              <a:buNone/>
            </a:pPr>
            <a:r>
              <a:rPr lang="en-US" sz="1350" b="1" spc="-7" kern="0" dirty="0">
                <a:solidFill>
                  <a:srgbClr val="1E1E1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Sampling Strategy: </a:t>
            </a:r>
            <a:pPr algn="l" indent="0" marL="0">
              <a:lnSpc>
                <a:spcPts val="1809"/>
              </a:lnSpc>
              <a:buNone/>
            </a:pPr>
            <a:r>
              <a:rPr lang="en-US" sz="1350" spc="-7" kern="0" dirty="0">
                <a:solidFill>
                  <a:srgbClr val="1E1E1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Purposive maximum-variation – diversity in gender, religiosity, cooking skill, accommodation, and budget. </a:t>
            </a:r>
            <a:endParaRPr lang="en-US" sz="1350" dirty="0"/>
          </a:p>
          <a:p>
            <a:pPr algn="l" indent="0" marL="0">
              <a:lnSpc>
                <a:spcPts val="1809"/>
              </a:lnSpc>
              <a:buNone/>
            </a:pPr>
            <a:r>
              <a:rPr lang="en-US" sz="1350" b="1" spc="-7" kern="0" dirty="0">
                <a:solidFill>
                  <a:srgbClr val="1E1E1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Recruitment:</a:t>
            </a:r>
            <a:pPr algn="l" indent="0" marL="0">
              <a:lnSpc>
                <a:spcPts val="1809"/>
              </a:lnSpc>
              <a:buNone/>
            </a:pPr>
            <a:r>
              <a:rPr lang="en-US" sz="1350" spc="-7" kern="0" dirty="0">
                <a:solidFill>
                  <a:srgbClr val="1E1E1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University societies/WhatsApp groups; screener with inclusion/exclusion (expect 10–20% no‑show.</a:t>
            </a:r>
            <a:endParaRPr lang="en-US" sz="1350" dirty="0"/>
          </a:p>
          <a:p>
            <a:pPr algn="l" indent="0" marL="0">
              <a:lnSpc>
                <a:spcPts val="1809"/>
              </a:lnSpc>
              <a:buNone/>
            </a:pPr>
            <a:r>
              <a:rPr lang="en-US" sz="1350" b="1" spc="-7" kern="0" dirty="0">
                <a:solidFill>
                  <a:srgbClr val="1E1E1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Incentive:</a:t>
            </a:r>
            <a:pPr algn="l" indent="0" marL="0">
              <a:lnSpc>
                <a:spcPts val="1809"/>
              </a:lnSpc>
              <a:buNone/>
            </a:pPr>
            <a:r>
              <a:rPr lang="en-US" sz="1350" spc="-7" kern="0" dirty="0">
                <a:solidFill>
                  <a:srgbClr val="1E1E1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£20 voucher each per participant (n=5)</a:t>
            </a:r>
            <a:endParaRPr lang="en-US" sz="1350" dirty="0"/>
          </a:p>
          <a:p>
            <a:pPr algn="l" indent="0" marL="0">
              <a:lnSpc>
                <a:spcPts val="1809"/>
              </a:lnSpc>
              <a:buNone/>
            </a:pPr>
            <a:r>
              <a:rPr lang="en-US" sz="1350" b="1" spc="-7" kern="0" dirty="0">
                <a:solidFill>
                  <a:srgbClr val="1E1E1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Ethics:</a:t>
            </a:r>
            <a:pPr algn="l" indent="0" marL="0">
              <a:lnSpc>
                <a:spcPts val="1809"/>
              </a:lnSpc>
              <a:buNone/>
            </a:pPr>
            <a:r>
              <a:rPr lang="en-US" sz="1350" spc="-7" kern="0" dirty="0">
                <a:solidFill>
                  <a:srgbClr val="1E1E1E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Informed consent, confidentiality, anonymised data.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BAE6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0075" y="1547813"/>
            <a:ext cx="7934325" cy="228600"/>
          </a:xfrm>
          <a:prstGeom prst="rect">
            <a:avLst/>
          </a:prstGeom>
          <a:noFill/>
          <a:ln/>
        </p:spPr>
      </p:sp>
      <p:sp>
        <p:nvSpPr>
          <p:cNvPr id="3" name="Shape 1"/>
          <p:cNvSpPr/>
          <p:nvPr/>
        </p:nvSpPr>
        <p:spPr>
          <a:xfrm>
            <a:off x="628650" y="3924300"/>
            <a:ext cx="7934325" cy="457200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600075" y="2162175"/>
            <a:ext cx="7858125" cy="1600200"/>
          </a:xfrm>
          <a:prstGeom prst="rect">
            <a:avLst/>
          </a:prstGeom>
          <a:noFill/>
          <a:ln/>
        </p:spPr>
      </p:sp>
      <p:sp>
        <p:nvSpPr>
          <p:cNvPr id="5" name="Shape 3"/>
          <p:cNvSpPr/>
          <p:nvPr/>
        </p:nvSpPr>
        <p:spPr>
          <a:xfrm>
            <a:off x="2090738" y="2162175"/>
            <a:ext cx="6367463" cy="1600200"/>
          </a:xfrm>
          <a:prstGeom prst="rect">
            <a:avLst/>
          </a:prstGeom>
          <a:noFill/>
          <a:ln/>
        </p:spPr>
      </p:sp>
      <p:sp>
        <p:nvSpPr>
          <p:cNvPr id="6" name="Shape 4"/>
          <p:cNvSpPr/>
          <p:nvPr/>
        </p:nvSpPr>
        <p:spPr>
          <a:xfrm>
            <a:off x="2195513" y="3924300"/>
            <a:ext cx="6367463" cy="457200"/>
          </a:xfrm>
          <a:prstGeom prst="rect">
            <a:avLst/>
          </a:prstGeom>
          <a:noFill/>
          <a:ln/>
        </p:spPr>
      </p:sp>
      <p:sp>
        <p:nvSpPr>
          <p:cNvPr id="7" name="Shape 5"/>
          <p:cNvSpPr/>
          <p:nvPr/>
        </p:nvSpPr>
        <p:spPr>
          <a:xfrm>
            <a:off x="2166938" y="1547813"/>
            <a:ext cx="6367463" cy="228600"/>
          </a:xfrm>
          <a:prstGeom prst="rect">
            <a:avLst/>
          </a:prstGeom>
          <a:noFill/>
          <a:ln/>
        </p:spPr>
      </p:sp>
      <p:sp>
        <p:nvSpPr>
          <p:cNvPr id="8" name="Text 6"/>
          <p:cNvSpPr/>
          <p:nvPr/>
        </p:nvSpPr>
        <p:spPr>
          <a:xfrm>
            <a:off x="609600" y="390525"/>
            <a:ext cx="839152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000" b="1" spc="-66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Quantitative Phase (Small q)(24th Oct) – </a:t>
            </a:r>
            <a:pPr algn="l" indent="0" marL="0">
              <a:lnSpc>
                <a:spcPts val="3240"/>
              </a:lnSpc>
              <a:buNone/>
            </a:pPr>
            <a:r>
              <a:rPr lang="en-US" sz="2700" spc="-54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Descriptive and validation-focused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00075" y="2162175"/>
            <a:ext cx="145256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090738" y="2162175"/>
            <a:ext cx="6824663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lnSpc>
                <a:spcPts val="1782"/>
              </a:lnSpc>
              <a:buSzPct val="100000"/>
              <a:buChar char="•"/>
            </a:pPr>
            <a:r>
              <a:rPr lang="en-US" sz="1350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common are identified challenges such as halal availability and budgeting constraints? </a:t>
            </a:r>
            <a:endParaRPr lang="en-US" sz="1350" dirty="0"/>
          </a:p>
          <a:p>
            <a:pPr algn="l" marL="342900" indent="-342900">
              <a:lnSpc>
                <a:spcPts val="1782"/>
              </a:lnSpc>
              <a:buSzPct val="100000"/>
              <a:buChar char="•"/>
            </a:pPr>
            <a:r>
              <a:rPr lang="en-US" sz="1350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HelloFresh features (price, authenticity, halal assurance, delivery convenience) are most valued? </a:t>
            </a:r>
            <a:endParaRPr lang="en-US" sz="1350" dirty="0"/>
          </a:p>
          <a:p>
            <a:pPr algn="l" marL="342900" indent="-342900">
              <a:lnSpc>
                <a:spcPts val="1782"/>
              </a:lnSpc>
              <a:buSzPct val="100000"/>
              <a:buChar char="•"/>
            </a:pPr>
            <a:r>
              <a:rPr lang="en-US" sz="1350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preference patterns or consumer segments exist among students?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28650" y="4038600"/>
            <a:ext cx="127635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195513" y="3924300"/>
            <a:ext cx="682466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Surveys - Generating categorical, ranking, and numerical data</a:t>
            </a:r>
            <a:endParaRPr lang="en-US" sz="1350" dirty="0"/>
          </a:p>
          <a:p>
            <a:pPr algn="l" indent="0" marL="0">
              <a:lnSpc>
                <a:spcPts val="1782"/>
              </a:lnSpc>
              <a:buNone/>
            </a:pPr>
            <a:r>
              <a:rPr lang="en-US" sz="1350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Larger sample than interviews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0075" y="1547813"/>
            <a:ext cx="127635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166938" y="1547813"/>
            <a:ext cx="6824663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Quantify and prioritise the themes emerging from the qualitatve phase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BAE6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957263"/>
            <a:ext cx="3314700" cy="928688"/>
          </a:xfrm>
          <a:prstGeom prst="roundRect">
            <a:avLst>
              <a:gd name="adj" fmla="val 15754"/>
            </a:avLst>
          </a:prstGeom>
          <a:solidFill>
            <a:srgbClr val="198F51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477375" y="519113"/>
            <a:ext cx="3314700" cy="1233488"/>
          </a:xfrm>
          <a:prstGeom prst="roundRect">
            <a:avLst>
              <a:gd name="adj" fmla="val 11861"/>
            </a:avLst>
          </a:prstGeom>
          <a:solidFill>
            <a:srgbClr val="198F51">
              <a:alpha val="8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24861" y="3833812"/>
            <a:ext cx="3324225" cy="976312"/>
          </a:xfrm>
          <a:prstGeom prst="roundRect">
            <a:avLst>
              <a:gd name="adj" fmla="val 14985"/>
            </a:avLst>
          </a:prstGeom>
          <a:solidFill>
            <a:srgbClr val="198F51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 rot="5426043">
            <a:off x="4207660" y="2771775"/>
            <a:ext cx="628668" cy="0"/>
          </a:xfrm>
          <a:prstGeom prst="line">
            <a:avLst/>
          </a:prstGeom>
          <a:noFill/>
          <a:ln w="76200">
            <a:solidFill>
              <a:srgbClr val="1927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26043">
            <a:off x="4212422" y="4257675"/>
            <a:ext cx="628668" cy="0"/>
          </a:xfrm>
          <a:prstGeom prst="line">
            <a:avLst/>
          </a:prstGeom>
          <a:noFill/>
          <a:ln w="76200">
            <a:solidFill>
              <a:srgbClr val="19271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362837">
            <a:off x="78556" y="4321969"/>
            <a:ext cx="881114" cy="0"/>
          </a:xfrm>
          <a:prstGeom prst="line">
            <a:avLst/>
          </a:prstGeom>
          <a:noFill/>
          <a:ln w="76200">
            <a:solidFill>
              <a:srgbClr val="1927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5775" y="2219325"/>
            <a:ext cx="3314700" cy="1262063"/>
          </a:xfrm>
          <a:prstGeom prst="roundRect">
            <a:avLst>
              <a:gd name="adj" fmla="val 11592"/>
            </a:avLst>
          </a:prstGeom>
          <a:solidFill>
            <a:srgbClr val="198F51">
              <a:alpha val="3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 rot="5362837">
            <a:off x="54743" y="2840831"/>
            <a:ext cx="881114" cy="0"/>
          </a:xfrm>
          <a:prstGeom prst="line">
            <a:avLst/>
          </a:prstGeom>
          <a:noFill/>
          <a:ln w="76200">
            <a:solidFill>
              <a:srgbClr val="19271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5362837">
            <a:off x="102368" y="1397794"/>
            <a:ext cx="881114" cy="0"/>
          </a:xfrm>
          <a:prstGeom prst="line">
            <a:avLst/>
          </a:prstGeom>
          <a:noFill/>
          <a:ln w="76200">
            <a:solidFill>
              <a:srgbClr val="19271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5362837">
            <a:off x="9041581" y="1140619"/>
            <a:ext cx="881114" cy="0"/>
          </a:xfrm>
          <a:prstGeom prst="line">
            <a:avLst/>
          </a:prstGeom>
          <a:noFill/>
          <a:ln w="76200">
            <a:solidFill>
              <a:srgbClr val="192716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5426043">
            <a:off x="4207660" y="1423988"/>
            <a:ext cx="628668" cy="0"/>
          </a:xfrm>
          <a:prstGeom prst="line">
            <a:avLst/>
          </a:prstGeom>
          <a:noFill/>
          <a:ln w="76200">
            <a:solidFill>
              <a:srgbClr val="192716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85800" y="1052513"/>
            <a:ext cx="3571875" cy="219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050" b="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Saving &amp; Convenience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9629784" y="804863"/>
            <a:ext cx="3571875" cy="219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050" b="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 4: Food waste &amp; Cost reduction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38175" y="3943350"/>
            <a:ext cx="3571875" cy="219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050" b="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 limitation &amp; unique tools to aid in cooking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94330" y="4338638"/>
            <a:ext cx="3309938" cy="352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88"/>
              </a:lnSpc>
              <a:buNone/>
            </a:pPr>
            <a:r>
              <a:rPr lang="en-US" sz="938" i="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“Lacks the storage space required for basic cooking and traditional meals”</a:t>
            </a:r>
            <a:endParaRPr lang="en-US" sz="938" dirty="0"/>
          </a:p>
        </p:txBody>
      </p:sp>
      <p:sp>
        <p:nvSpPr>
          <p:cNvPr id="18" name="Text 15"/>
          <p:cNvSpPr/>
          <p:nvPr/>
        </p:nvSpPr>
        <p:spPr>
          <a:xfrm>
            <a:off x="638175" y="2819400"/>
            <a:ext cx="3309938" cy="5286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88"/>
              </a:lnSpc>
              <a:buNone/>
            </a:pPr>
            <a:r>
              <a:rPr lang="en-US" sz="938" i="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“Bought ingredients from their origin country”</a:t>
            </a:r>
            <a:endParaRPr lang="en-US" sz="938" dirty="0"/>
          </a:p>
          <a:p>
            <a:pPr algn="l" indent="0" marL="0">
              <a:lnSpc>
                <a:spcPts val="1388"/>
              </a:lnSpc>
              <a:buNone/>
            </a:pPr>
            <a:r>
              <a:rPr lang="en-US" sz="938" i="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“Dislikes the variations and quality of ingredients here”</a:t>
            </a:r>
            <a:endParaRPr lang="en-US" sz="938" dirty="0"/>
          </a:p>
        </p:txBody>
      </p:sp>
      <p:sp>
        <p:nvSpPr>
          <p:cNvPr id="19" name="Text 16"/>
          <p:cNvSpPr/>
          <p:nvPr/>
        </p:nvSpPr>
        <p:spPr>
          <a:xfrm>
            <a:off x="685800" y="1381125"/>
            <a:ext cx="3309938" cy="352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88"/>
              </a:lnSpc>
              <a:buNone/>
            </a:pPr>
            <a:r>
              <a:rPr lang="en-US" sz="938" i="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“Finds cooking or meal kit-services they’ve tried before too time consuming”</a:t>
            </a:r>
            <a:endParaRPr lang="en-US" sz="938" dirty="0"/>
          </a:p>
        </p:txBody>
      </p:sp>
      <p:sp>
        <p:nvSpPr>
          <p:cNvPr id="20" name="Text 17"/>
          <p:cNvSpPr/>
          <p:nvPr/>
        </p:nvSpPr>
        <p:spPr>
          <a:xfrm>
            <a:off x="9625013" y="1138238"/>
            <a:ext cx="3309938" cy="352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388"/>
              </a:lnSpc>
              <a:buNone/>
            </a:pPr>
            <a:r>
              <a:rPr lang="en-US" sz="938" i="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“Taking care to preserve leftovers and using them over multiple days”</a:t>
            </a:r>
            <a:endParaRPr lang="en-US" sz="938" dirty="0"/>
          </a:p>
        </p:txBody>
      </p:sp>
      <p:sp>
        <p:nvSpPr>
          <p:cNvPr id="21" name="Text 18"/>
          <p:cNvSpPr/>
          <p:nvPr/>
        </p:nvSpPr>
        <p:spPr>
          <a:xfrm>
            <a:off x="4672022" y="3876675"/>
            <a:ext cx="35718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650" b="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71% </a:t>
            </a:r>
            <a:pPr algn="l" indent="0" marL="0">
              <a:lnSpc>
                <a:spcPts val="1725"/>
              </a:lnSpc>
              <a:buNone/>
            </a:pPr>
            <a:r>
              <a:rPr lang="en-US" sz="105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 inadequate kitchen equipment suggests shared kitchens are a major friction point.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638184" y="2405063"/>
            <a:ext cx="3571875" cy="219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050" b="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Importance of Ingredient quality &amp; Trust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672022" y="2533650"/>
            <a:ext cx="3571875" cy="4667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25"/>
              </a:lnSpc>
              <a:buNone/>
            </a:pPr>
            <a:r>
              <a:rPr lang="en-US" sz="1650" b="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57% </a:t>
            </a:r>
            <a:pPr algn="l" indent="0" marL="0">
              <a:lnSpc>
                <a:spcPts val="1725"/>
              </a:lnSpc>
              <a:buNone/>
            </a:pPr>
            <a:r>
              <a:rPr lang="en-US" sz="105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respondents</a:t>
            </a:r>
            <a:pPr algn="l" indent="0" marL="0">
              <a:lnSpc>
                <a:spcPts val="1725"/>
              </a:lnSpc>
              <a:buNone/>
            </a:pPr>
            <a:r>
              <a:rPr lang="en-US" sz="105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struggle to find specific ingredients in London.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4672022" y="957263"/>
            <a:ext cx="43815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95%</a:t>
            </a:r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1386"/>
              </a:lnSpc>
              <a:buNone/>
            </a:pPr>
            <a:r>
              <a:rPr lang="en-US" sz="1050" spc="-2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respondents are motivated by quick meals. </a:t>
            </a:r>
            <a:endParaRPr lang="en-US" sz="1650" dirty="0"/>
          </a:p>
        </p:txBody>
      </p:sp>
      <p:sp>
        <p:nvSpPr>
          <p:cNvPr id="25" name="Text 22"/>
          <p:cNvSpPr/>
          <p:nvPr/>
        </p:nvSpPr>
        <p:spPr>
          <a:xfrm>
            <a:off x="514350" y="242888"/>
            <a:ext cx="7800975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spc="-54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Findings </a:t>
            </a:r>
            <a:endParaRPr lang="en-US" sz="2700" dirty="0"/>
          </a:p>
        </p:txBody>
      </p:sp>
      <p:sp>
        <p:nvSpPr>
          <p:cNvPr id="26" name="Text 23"/>
          <p:cNvSpPr/>
          <p:nvPr/>
        </p:nvSpPr>
        <p:spPr>
          <a:xfrm>
            <a:off x="4667250" y="1457325"/>
            <a:ext cx="4386263" cy="4333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178"/>
              </a:lnSpc>
              <a:buNone/>
            </a:pPr>
            <a:r>
              <a:rPr lang="en-US" sz="1650" b="1" spc="-33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86%</a:t>
            </a:r>
            <a:pPr algn="l" indent="0" marL="0">
              <a:lnSpc>
                <a:spcPts val="1386"/>
              </a:lnSpc>
              <a:buNone/>
            </a:pPr>
            <a:r>
              <a:rPr lang="en-US" sz="1050" spc="-2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students showed preference for pre-prepped who want to reduce prep time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BAE6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5418582">
            <a:off x="809619" y="2145506"/>
            <a:ext cx="881075" cy="0"/>
          </a:xfrm>
          <a:prstGeom prst="line">
            <a:avLst/>
          </a:prstGeom>
          <a:noFill/>
          <a:ln w="76200">
            <a:solidFill>
              <a:srgbClr val="1927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5418582">
            <a:off x="4748206" y="2145506"/>
            <a:ext cx="881075" cy="0"/>
          </a:xfrm>
          <a:prstGeom prst="line">
            <a:avLst/>
          </a:prstGeom>
          <a:noFill/>
          <a:ln w="76200">
            <a:solidFill>
              <a:srgbClr val="1927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5418582">
            <a:off x="804856" y="3288506"/>
            <a:ext cx="881075" cy="0"/>
          </a:xfrm>
          <a:prstGeom prst="line">
            <a:avLst/>
          </a:prstGeom>
          <a:noFill/>
          <a:ln w="76200">
            <a:solidFill>
              <a:srgbClr val="19271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5418582">
            <a:off x="804856" y="4431506"/>
            <a:ext cx="881075" cy="0"/>
          </a:xfrm>
          <a:prstGeom prst="line">
            <a:avLst/>
          </a:prstGeom>
          <a:noFill/>
          <a:ln w="76200">
            <a:solidFill>
              <a:srgbClr val="19271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18582">
            <a:off x="4733919" y="4498181"/>
            <a:ext cx="881075" cy="0"/>
          </a:xfrm>
          <a:prstGeom prst="line">
            <a:avLst/>
          </a:prstGeom>
          <a:noFill/>
          <a:ln w="76200">
            <a:solidFill>
              <a:srgbClr val="19271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18582">
            <a:off x="4748206" y="3288506"/>
            <a:ext cx="881075" cy="0"/>
          </a:xfrm>
          <a:prstGeom prst="line">
            <a:avLst/>
          </a:prstGeom>
          <a:noFill/>
          <a:ln w="76200">
            <a:solidFill>
              <a:srgbClr val="19271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14350" y="947737"/>
            <a:ext cx="8901113" cy="5381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205"/>
              </a:lnSpc>
              <a:buNone/>
            </a:pPr>
            <a:r>
              <a:rPr lang="en-US" sz="1838" b="1" spc="-37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pPr algn="l" indent="0" marL="0">
              <a:lnSpc>
                <a:spcPts val="1913"/>
              </a:lnSpc>
              <a:buNone/>
            </a:pPr>
            <a:r>
              <a:rPr lang="en-US" sz="1200" spc="3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 a direct result of research </a:t>
            </a:r>
            <a:pPr algn="l" indent="0" marL="0">
              <a:lnSpc>
                <a:spcPts val="1913"/>
              </a:lnSpc>
              <a:buNone/>
            </a:pPr>
            <a:r>
              <a:rPr lang="en-US" sz="1838" b="1" spc="39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pPr algn="l" indent="0" marL="0">
              <a:lnSpc>
                <a:spcPts val="1913"/>
              </a:lnSpc>
              <a:buNone/>
            </a:pPr>
            <a:r>
              <a:rPr lang="en-US" sz="1200" b="1" spc="39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1913"/>
              </a:lnSpc>
              <a:buNone/>
            </a:pPr>
            <a:r>
              <a:rPr lang="en-US" sz="1200" spc="39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lines have been curated for students to solve the identified problems, all whilst maintaining </a:t>
            </a:r>
            <a:pPr algn="l" indent="0" marL="0">
              <a:lnSpc>
                <a:spcPts val="1913"/>
              </a:lnSpc>
              <a:buNone/>
            </a:pPr>
            <a:r>
              <a:rPr lang="en-US" sz="1200" b="1" spc="39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 Middle Eastern Flavours</a:t>
            </a:r>
            <a:pPr algn="l" indent="0" marL="0">
              <a:lnSpc>
                <a:spcPts val="1913"/>
              </a:lnSpc>
              <a:buNone/>
            </a:pPr>
            <a:r>
              <a:rPr lang="en-US" sz="1200" b="1" spc="39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endParaRPr lang="en-US" sz="1838" dirty="0"/>
          </a:p>
        </p:txBody>
      </p:sp>
      <p:sp>
        <p:nvSpPr>
          <p:cNvPr id="10" name="Text 7"/>
          <p:cNvSpPr/>
          <p:nvPr/>
        </p:nvSpPr>
        <p:spPr>
          <a:xfrm>
            <a:off x="514350" y="314325"/>
            <a:ext cx="7800975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spc="-54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Areas of Opportunity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1371600" y="1704975"/>
            <a:ext cx="3571875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Varied Preparation Levels: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314950" y="1704975"/>
            <a:ext cx="3571875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Diverse Ingredients: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371600" y="2847975"/>
            <a:ext cx="3571875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Kitchen Accessible Recipes: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371600" y="3990975"/>
            <a:ext cx="3571875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Community Shared Recipes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300663" y="3990975"/>
            <a:ext cx="3571875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Focused Meal Line 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314950" y="2847975"/>
            <a:ext cx="3571875" cy="200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Culturally Targeted Advertising: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371600" y="2000250"/>
            <a:ext cx="3152775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97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 meals with varying levels of preparation. This shortens meal prep times dramatically.</a:t>
            </a:r>
            <a:endParaRPr lang="en-US" sz="975" dirty="0"/>
          </a:p>
        </p:txBody>
      </p:sp>
      <p:sp>
        <p:nvSpPr>
          <p:cNvPr id="18" name="Text 15"/>
          <p:cNvSpPr/>
          <p:nvPr/>
        </p:nvSpPr>
        <p:spPr>
          <a:xfrm>
            <a:off x="5314950" y="1985963"/>
            <a:ext cx="3152775" cy="600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97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Introduces regionally authentic spices and speciality ingredients to better reflect Middle Eastern food practices.</a:t>
            </a:r>
            <a:endParaRPr lang="en-US" sz="975" dirty="0"/>
          </a:p>
        </p:txBody>
      </p:sp>
      <p:sp>
        <p:nvSpPr>
          <p:cNvPr id="19" name="Text 16"/>
          <p:cNvSpPr/>
          <p:nvPr/>
        </p:nvSpPr>
        <p:spPr>
          <a:xfrm>
            <a:off x="1371600" y="3128963"/>
            <a:ext cx="3343275" cy="600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97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Ensures recipes remain feasible in typical student accommodations. There will be minimal reliance on specialised equipment.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1371600" y="4229100"/>
            <a:ext cx="3695700" cy="600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97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a community recipe feature where students can share traditional dishes. This supports their emotional connections to home cooking.</a:t>
            </a:r>
            <a:endParaRPr lang="en-US" sz="975" dirty="0"/>
          </a:p>
        </p:txBody>
      </p:sp>
      <p:sp>
        <p:nvSpPr>
          <p:cNvPr id="21" name="Text 18"/>
          <p:cNvSpPr/>
          <p:nvPr/>
        </p:nvSpPr>
        <p:spPr>
          <a:xfrm>
            <a:off x="5300663" y="4229100"/>
            <a:ext cx="3867150" cy="600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97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a specialised meal line with cooking times under 30 minutes. This is specifically for for time pressed students.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5314950" y="3128963"/>
            <a:ext cx="3152775" cy="6000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97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Reaching Middle Eastern students through university societies, cultural associations, and  popular social media platforms.</a:t>
            </a:r>
            <a:endParaRPr lang="en-US" sz="975" dirty="0"/>
          </a:p>
        </p:txBody>
      </p:sp>
      <p:sp>
        <p:nvSpPr>
          <p:cNvPr id="23" name="Text 20"/>
          <p:cNvSpPr/>
          <p:nvPr/>
        </p:nvSpPr>
        <p:spPr>
          <a:xfrm>
            <a:off x="890588" y="1704975"/>
            <a:ext cx="809625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833938" y="1704975"/>
            <a:ext cx="809625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b="1" spc="-39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</a:t>
            </a:r>
            <a:endParaRPr lang="en-US" sz="1950" dirty="0"/>
          </a:p>
        </p:txBody>
      </p:sp>
      <p:sp>
        <p:nvSpPr>
          <p:cNvPr id="25" name="Text 22"/>
          <p:cNvSpPr/>
          <p:nvPr/>
        </p:nvSpPr>
        <p:spPr>
          <a:xfrm>
            <a:off x="890588" y="2847975"/>
            <a:ext cx="809625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b="1" spc="-39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</a:t>
            </a:r>
            <a:endParaRPr lang="en-US" sz="1950" dirty="0"/>
          </a:p>
        </p:txBody>
      </p:sp>
      <p:sp>
        <p:nvSpPr>
          <p:cNvPr id="26" name="Text 23"/>
          <p:cNvSpPr/>
          <p:nvPr/>
        </p:nvSpPr>
        <p:spPr>
          <a:xfrm>
            <a:off x="890588" y="3990975"/>
            <a:ext cx="809625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819650" y="3990975"/>
            <a:ext cx="809625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b="1" spc="-39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</a:t>
            </a:r>
            <a:endParaRPr lang="en-US" sz="1950" dirty="0"/>
          </a:p>
        </p:txBody>
      </p:sp>
      <p:sp>
        <p:nvSpPr>
          <p:cNvPr id="28" name="Text 25"/>
          <p:cNvSpPr/>
          <p:nvPr/>
        </p:nvSpPr>
        <p:spPr>
          <a:xfrm>
            <a:off x="4833938" y="2847975"/>
            <a:ext cx="809625" cy="2952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b="1" spc="-39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</a:t>
            </a:r>
            <a:endParaRPr lang="en-US" sz="1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BAE6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1937" y="442913"/>
            <a:ext cx="3219450" cy="409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b="1" spc="-54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 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261937" y="1104900"/>
            <a:ext cx="79533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82"/>
              </a:lnSpc>
              <a:buNone/>
            </a:pPr>
            <a:r>
              <a:rPr lang="en-US" sz="1350" b="1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[1]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04863" y="1042988"/>
            <a:ext cx="847725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350" spc="-27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M. Gunther, “Uk meal kits: Who’s winning in london?” https://www.consumeredge.com/resources/insight-flash/uk-meal-kits-whos-winning-in-london/, 2024, pp 16-20.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BAE6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23838" y="285750"/>
            <a:ext cx="696753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9000"/>
              </a:lnSpc>
              <a:buNone/>
            </a:pPr>
            <a:r>
              <a:rPr lang="en-US" sz="7500" b="1" spc="-150" kern="0" dirty="0">
                <a:solidFill>
                  <a:srgbClr val="198F51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 For Listening</a:t>
            </a:r>
            <a:endParaRPr lang="en-US" sz="7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2026-01-17T01:57:27Z</dcterms:created>
  <dcterms:modified xsi:type="dcterms:W3CDTF">2026-01-17T01:57:27Z</dcterms:modified>
</cp:coreProperties>
</file>