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511"/>
    <p:restoredTop sz="94610"/>
  </p:normalViewPr>
  <p:slideViewPr>
    <p:cSldViewPr snapToGrid="0" snapToObjects="1">
      <p:cViewPr varScale="1">
        <p:scale>
          <a:sx n="160" d="100"/>
          <a:sy n="160" d="100"/>
        </p:scale>
        <p:origin x="17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24404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D20D91-0717-66D8-4FBC-81C4E54E7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FA29CD-45DC-BC93-7F47-1F6688966A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365B4F-3078-1AFB-7E83-8F6F163024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853130-B739-B830-8F45-738B2C2EA4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1433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7B91C9-054B-42E3-AC94-A78FE6341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EE6E0F-B915-4CF5-7CFA-322F7E7FBD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0D16D9-AF69-2AC2-E3EA-D7AEAC6709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7E9F7E-E0F2-A39A-A1AA-3C09E7A7C3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7869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11" Type="http://schemas.openxmlformats.org/officeDocument/2006/relationships/hyperlink" Target="https://www.wired.com/story/the-humane-ai-pin-has-already-been-brought-back-to-life/" TargetMode="External"/><Relationship Id="rId5" Type="http://schemas.openxmlformats.org/officeDocument/2006/relationships/image" Target="../media/image28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ijpds.org/article/view/2374" TargetMode="External"/><Relationship Id="rId13" Type="http://schemas.openxmlformats.org/officeDocument/2006/relationships/hyperlink" Target="https://pubmed.ncbi.nlm.nih.gov/40682245/" TargetMode="External"/><Relationship Id="rId3" Type="http://schemas.openxmlformats.org/officeDocument/2006/relationships/image" Target="../media/image35.png"/><Relationship Id="rId7" Type="http://schemas.openxmlformats.org/officeDocument/2006/relationships/hyperlink" Target="https://adc.bmj.com/content/110/Suppl_1/A118.abstract:" TargetMode="External"/><Relationship Id="rId12" Type="http://schemas.openxmlformats.org/officeDocument/2006/relationships/hyperlink" Target="https://www.thelancet.com/journals/lanchi/article/PIIS2352-4642(22)00185-7/abstract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11" Type="http://schemas.openxmlformats.org/officeDocument/2006/relationships/hyperlink" Target="https://www.mdpi.com/2075-4663/12/4/114" TargetMode="External"/><Relationship Id="rId5" Type="http://schemas.openxmlformats.org/officeDocument/2006/relationships/image" Target="../media/image37.png"/><Relationship Id="rId10" Type="http://schemas.openxmlformats.org/officeDocument/2006/relationships/hyperlink" Target="https://www.annallergy.org/article/S1081-1206(23)01301-7/fulltext" TargetMode="External"/><Relationship Id="rId4" Type="http://schemas.openxmlformats.org/officeDocument/2006/relationships/image" Target="../media/image36.png"/><Relationship Id="rId9" Type="http://schemas.openxmlformats.org/officeDocument/2006/relationships/hyperlink" Target="https://onlinelibrary.wiley.com/doi/10.1111/ppe.12760" TargetMode="External"/><Relationship Id="rId14" Type="http://schemas.openxmlformats.org/officeDocument/2006/relationships/hyperlink" Target="https://onlinelibrary.wiley.com/doi/10.1111/j.1399-3038.2009.00911.x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551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2271713"/>
            <a:ext cx="3471863" cy="147638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5400000">
            <a:off x="1421606" y="2345531"/>
            <a:ext cx="147638" cy="0"/>
          </a:xfrm>
          <a:prstGeom prst="line">
            <a:avLst/>
          </a:prstGeom>
          <a:noFill/>
          <a:ln w="508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 rot="5400000">
            <a:off x="2883694" y="2345531"/>
            <a:ext cx="147638" cy="0"/>
          </a:xfrm>
          <a:prstGeom prst="line">
            <a:avLst/>
          </a:prstGeom>
          <a:noFill/>
          <a:ln w="508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525" y="4343400"/>
            <a:ext cx="488505" cy="488505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458" y="4344520"/>
            <a:ext cx="102246" cy="486265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6852" y="4344520"/>
            <a:ext cx="102246" cy="486265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4831" y="4650136"/>
            <a:ext cx="459894" cy="34082"/>
          </a:xfrm>
          <a:prstGeom prst="rect">
            <a:avLst/>
          </a:prstGeom>
        </p:spPr>
      </p:pic>
      <p:pic>
        <p:nvPicPr>
          <p:cNvPr id="9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4831" y="4491087"/>
            <a:ext cx="459894" cy="34082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381000" y="1362075"/>
            <a:ext cx="7658100" cy="657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5184"/>
              </a:lnSpc>
              <a:buNone/>
            </a:pPr>
            <a:r>
              <a:rPr lang="en-US" sz="4800" b="1" kern="0" spc="-144" dirty="0">
                <a:solidFill>
                  <a:srgbClr val="FFFFFF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Telemedicine</a:t>
            </a:r>
            <a:endParaRPr lang="en-US" sz="4800" dirty="0"/>
          </a:p>
        </p:txBody>
      </p:sp>
      <p:sp>
        <p:nvSpPr>
          <p:cNvPr id="11" name="Text 4"/>
          <p:cNvSpPr/>
          <p:nvPr/>
        </p:nvSpPr>
        <p:spPr>
          <a:xfrm>
            <a:off x="381000" y="2647950"/>
            <a:ext cx="8543925" cy="6000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b="1" kern="0" spc="-12" dirty="0">
                <a:solidFill>
                  <a:srgbClr val="FFFFFF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Problem Statement:</a:t>
            </a:r>
            <a:endParaRPr lang="en-US" sz="120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200" b="1" kern="0" spc="-12" dirty="0">
                <a:solidFill>
                  <a:srgbClr val="FFFFFF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How might we help children with obesity-linked asthma overcome fear of breathlessness and re-engage with physical play and confidence, while reassuring parents and carers through telemedicine?</a:t>
            </a:r>
            <a:endParaRPr lang="en-US" sz="1200" dirty="0"/>
          </a:p>
        </p:txBody>
      </p:sp>
      <p:sp>
        <p:nvSpPr>
          <p:cNvPr id="12" name="Text 5"/>
          <p:cNvSpPr/>
          <p:nvPr/>
        </p:nvSpPr>
        <p:spPr>
          <a:xfrm>
            <a:off x="381000" y="2278856"/>
            <a:ext cx="1257300" cy="133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055"/>
              </a:lnSpc>
              <a:buNone/>
            </a:pPr>
            <a:r>
              <a:rPr lang="en-US" sz="900" b="1" kern="0" spc="36" dirty="0">
                <a:solidFill>
                  <a:srgbClr val="FFFFFF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PAYAL CHAND</a:t>
            </a:r>
            <a:endParaRPr lang="en-US" sz="900" dirty="0"/>
          </a:p>
        </p:txBody>
      </p:sp>
      <p:sp>
        <p:nvSpPr>
          <p:cNvPr id="13" name="Text 6"/>
          <p:cNvSpPr/>
          <p:nvPr/>
        </p:nvSpPr>
        <p:spPr>
          <a:xfrm>
            <a:off x="1819275" y="2278856"/>
            <a:ext cx="1281112" cy="133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055"/>
              </a:lnSpc>
              <a:buNone/>
            </a:pPr>
            <a:r>
              <a:rPr lang="en-US" sz="900" b="1" kern="0" spc="36" dirty="0">
                <a:solidFill>
                  <a:srgbClr val="FFFFFF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CID: 06067958</a:t>
            </a:r>
            <a:endParaRPr lang="en-US" sz="900" dirty="0"/>
          </a:p>
        </p:txBody>
      </p:sp>
      <p:sp>
        <p:nvSpPr>
          <p:cNvPr id="14" name="Text 7"/>
          <p:cNvSpPr/>
          <p:nvPr/>
        </p:nvSpPr>
        <p:spPr>
          <a:xfrm>
            <a:off x="3281363" y="2278856"/>
            <a:ext cx="1028700" cy="133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055"/>
              </a:lnSpc>
              <a:buNone/>
            </a:pPr>
            <a:r>
              <a:rPr lang="en-US" sz="900" b="1" kern="0" spc="36" dirty="0">
                <a:solidFill>
                  <a:srgbClr val="FFFFFF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GROUP 19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518" y="752724"/>
            <a:ext cx="4367213" cy="2328863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3805" y="2476749"/>
            <a:ext cx="4452938" cy="23812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57213" y="190500"/>
            <a:ext cx="1462088" cy="280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197"/>
              </a:lnSpc>
              <a:buNone/>
            </a:pPr>
            <a:r>
              <a:rPr lang="en-US" sz="1875" b="1" dirty="0">
                <a:solidFill>
                  <a:srgbClr val="5551FF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Research</a:t>
            </a:r>
            <a:endParaRPr lang="en-US" sz="1875" dirty="0"/>
          </a:p>
        </p:txBody>
      </p:sp>
      <p:sp>
        <p:nvSpPr>
          <p:cNvPr id="5" name="Text 1"/>
          <p:cNvSpPr/>
          <p:nvPr/>
        </p:nvSpPr>
        <p:spPr>
          <a:xfrm>
            <a:off x="1776413" y="190500"/>
            <a:ext cx="1333500" cy="280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197"/>
              </a:lnSpc>
              <a:buNone/>
            </a:pPr>
            <a:r>
              <a:rPr lang="en-US" sz="1875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Ideation</a:t>
            </a:r>
            <a:endParaRPr lang="en-US" sz="1875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6" name="Text 2"/>
          <p:cNvSpPr/>
          <p:nvPr/>
        </p:nvSpPr>
        <p:spPr>
          <a:xfrm>
            <a:off x="2867025" y="190500"/>
            <a:ext cx="1352550" cy="280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197"/>
              </a:lnSpc>
              <a:buNone/>
            </a:pPr>
            <a:r>
              <a:rPr lang="en-US" sz="1875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Concept</a:t>
            </a:r>
            <a:endParaRPr lang="en-US" sz="1875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7" name="Text 0">
            <a:extLst>
              <a:ext uri="{FF2B5EF4-FFF2-40B4-BE49-F238E27FC236}">
                <a16:creationId xmlns:a16="http://schemas.microsoft.com/office/drawing/2014/main" id="{E32A568D-D9CC-804E-40BB-02AA1DD32A04}"/>
              </a:ext>
            </a:extLst>
          </p:cNvPr>
          <p:cNvSpPr/>
          <p:nvPr/>
        </p:nvSpPr>
        <p:spPr>
          <a:xfrm>
            <a:off x="557213" y="497951"/>
            <a:ext cx="2309812" cy="280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197"/>
              </a:lnSpc>
              <a:buNone/>
            </a:pPr>
            <a:r>
              <a:rPr lang="en-US" sz="1400" b="1" dirty="0">
                <a:solidFill>
                  <a:srgbClr val="5551FF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Collaborated Effort: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8103" y="1855655"/>
            <a:ext cx="1152525" cy="1152525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6778" y="1776680"/>
            <a:ext cx="1152525" cy="1152525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0111" y="2917435"/>
            <a:ext cx="1152525" cy="1318501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88103" y="662250"/>
            <a:ext cx="1152525" cy="115252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5313" y="2013606"/>
            <a:ext cx="1152525" cy="1152525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5313" y="3132423"/>
            <a:ext cx="1152525" cy="1152525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66778" y="2917435"/>
            <a:ext cx="1152525" cy="1947151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66778" y="635925"/>
            <a:ext cx="1152525" cy="1152525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20111" y="635925"/>
            <a:ext cx="1152525" cy="1152525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20111" y="1776680"/>
            <a:ext cx="1152525" cy="1152525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95313" y="609600"/>
            <a:ext cx="1152525" cy="1423276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488103" y="3005185"/>
            <a:ext cx="1152525" cy="1152525"/>
          </a:xfrm>
          <a:prstGeom prst="rect">
            <a:avLst/>
          </a:prstGeom>
        </p:spPr>
      </p:pic>
      <p:sp>
        <p:nvSpPr>
          <p:cNvPr id="14" name="Text 0"/>
          <p:cNvSpPr/>
          <p:nvPr/>
        </p:nvSpPr>
        <p:spPr>
          <a:xfrm>
            <a:off x="3038475" y="1033462"/>
            <a:ext cx="1704975" cy="3143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476"/>
              </a:lnSpc>
              <a:buNone/>
            </a:pPr>
            <a:r>
              <a:rPr lang="en-US" sz="2211" b="1" kern="0" spc="-44" dirty="0">
                <a:solidFill>
                  <a:srgbClr val="5551FF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Problems:</a:t>
            </a:r>
            <a:endParaRPr lang="en-US" sz="2211" dirty="0"/>
          </a:p>
        </p:txBody>
      </p:sp>
      <p:sp>
        <p:nvSpPr>
          <p:cNvPr id="15" name="Text 1"/>
          <p:cNvSpPr/>
          <p:nvPr/>
        </p:nvSpPr>
        <p:spPr>
          <a:xfrm>
            <a:off x="557213" y="190500"/>
            <a:ext cx="1462088" cy="280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197"/>
              </a:lnSpc>
              <a:buNone/>
            </a:pPr>
            <a:r>
              <a:rPr lang="en-US" sz="1875" b="1" dirty="0">
                <a:solidFill>
                  <a:srgbClr val="5551FF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Research</a:t>
            </a:r>
            <a:endParaRPr lang="en-US" sz="1875" dirty="0"/>
          </a:p>
        </p:txBody>
      </p:sp>
      <p:sp>
        <p:nvSpPr>
          <p:cNvPr id="16" name="Text 2"/>
          <p:cNvSpPr/>
          <p:nvPr/>
        </p:nvSpPr>
        <p:spPr>
          <a:xfrm>
            <a:off x="1776413" y="190500"/>
            <a:ext cx="1333500" cy="280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197"/>
              </a:lnSpc>
              <a:buNone/>
            </a:pPr>
            <a:r>
              <a:rPr lang="en-US" sz="1875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Ideation</a:t>
            </a:r>
            <a:endParaRPr lang="en-US" sz="1875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7" name="Text 3"/>
          <p:cNvSpPr/>
          <p:nvPr/>
        </p:nvSpPr>
        <p:spPr>
          <a:xfrm>
            <a:off x="2867025" y="190500"/>
            <a:ext cx="1352550" cy="280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197"/>
              </a:lnSpc>
              <a:buNone/>
            </a:pPr>
            <a:r>
              <a:rPr lang="en-US" sz="1875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Concept</a:t>
            </a:r>
            <a:endParaRPr lang="en-US" sz="1875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8" name="Text 4"/>
          <p:cNvSpPr/>
          <p:nvPr/>
        </p:nvSpPr>
        <p:spPr>
          <a:xfrm>
            <a:off x="3038475" y="1481138"/>
            <a:ext cx="3352800" cy="2400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lnSpc>
                <a:spcPts val="1342"/>
              </a:lnSpc>
              <a:buSzPct val="100000"/>
              <a:buChar char="•"/>
            </a:pPr>
            <a:r>
              <a:rPr lang="en-US" sz="1032" kern="0" spc="-10" dirty="0">
                <a:solidFill>
                  <a:srgbClr val="5551FF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Obese kids with asthma tend to have worse control / more exacerbation. </a:t>
            </a:r>
            <a:endParaRPr lang="en-US" sz="1032" dirty="0"/>
          </a:p>
          <a:p>
            <a:pPr marL="342900" indent="-342900" algn="l">
              <a:lnSpc>
                <a:spcPts val="1342"/>
              </a:lnSpc>
              <a:buSzPct val="100000"/>
              <a:buChar char="•"/>
            </a:pPr>
            <a:r>
              <a:rPr lang="en-US" sz="1032" kern="0" spc="-10" dirty="0">
                <a:solidFill>
                  <a:srgbClr val="5551FF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These exacerbation = breathlessness,  chest tightness, ED use.​</a:t>
            </a:r>
            <a:endParaRPr lang="en-US" sz="1032" dirty="0"/>
          </a:p>
          <a:p>
            <a:pPr marL="342900" indent="-342900" algn="l">
              <a:lnSpc>
                <a:spcPts val="1342"/>
              </a:lnSpc>
              <a:buSzPct val="100000"/>
              <a:buChar char="•"/>
            </a:pPr>
            <a:r>
              <a:rPr lang="en-US" sz="1032" kern="0" spc="-10" dirty="0">
                <a:solidFill>
                  <a:srgbClr val="5551FF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Symptoms + fear → activity restriction → Sedentary behavior.​</a:t>
            </a:r>
            <a:endParaRPr lang="en-US" sz="1032" dirty="0"/>
          </a:p>
          <a:p>
            <a:pPr marL="342900" indent="-342900" algn="l">
              <a:lnSpc>
                <a:spcPts val="1342"/>
              </a:lnSpc>
              <a:buSzPct val="100000"/>
              <a:buChar char="•"/>
            </a:pPr>
            <a:r>
              <a:rPr lang="en-US" sz="1032" kern="0" spc="-10" dirty="0">
                <a:solidFill>
                  <a:srgbClr val="5551FF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Parental concern → Over-protection + Inducing  fear​.</a:t>
            </a:r>
            <a:endParaRPr lang="en-US" sz="1032" dirty="0"/>
          </a:p>
          <a:p>
            <a:pPr marL="342900" indent="-342900" algn="l">
              <a:lnSpc>
                <a:spcPts val="1342"/>
              </a:lnSpc>
              <a:buSzPct val="100000"/>
              <a:buChar char="•"/>
            </a:pPr>
            <a:r>
              <a:rPr lang="en-US" sz="1032" kern="0" spc="-10" dirty="0">
                <a:solidFill>
                  <a:srgbClr val="5551FF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Not enough emphasis or interventions on  the topic </a:t>
            </a:r>
            <a:endParaRPr lang="en-US" sz="1032" dirty="0"/>
          </a:p>
        </p:txBody>
      </p:sp>
      <p:sp>
        <p:nvSpPr>
          <p:cNvPr id="19" name="Text 0">
            <a:extLst>
              <a:ext uri="{FF2B5EF4-FFF2-40B4-BE49-F238E27FC236}">
                <a16:creationId xmlns:a16="http://schemas.microsoft.com/office/drawing/2014/main" id="{550DD346-AC3A-59CA-B732-5027F69817FA}"/>
              </a:ext>
            </a:extLst>
          </p:cNvPr>
          <p:cNvSpPr/>
          <p:nvPr/>
        </p:nvSpPr>
        <p:spPr>
          <a:xfrm>
            <a:off x="3038475" y="1380136"/>
            <a:ext cx="3181636" cy="3143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476"/>
              </a:lnSpc>
              <a:buNone/>
            </a:pPr>
            <a:r>
              <a:rPr lang="en-US" sz="1600" b="1" kern="0" spc="-44" dirty="0">
                <a:solidFill>
                  <a:srgbClr val="5551FF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 Asthmatic Obese children</a:t>
            </a:r>
            <a:endParaRPr lang="en-US" sz="1600" dirty="0"/>
          </a:p>
        </p:txBody>
      </p:sp>
      <p:sp>
        <p:nvSpPr>
          <p:cNvPr id="20" name="Text 0">
            <a:extLst>
              <a:ext uri="{FF2B5EF4-FFF2-40B4-BE49-F238E27FC236}">
                <a16:creationId xmlns:a16="http://schemas.microsoft.com/office/drawing/2014/main" id="{10107B63-00D1-132D-B721-0EE872FE0B86}"/>
              </a:ext>
            </a:extLst>
          </p:cNvPr>
          <p:cNvSpPr/>
          <p:nvPr/>
        </p:nvSpPr>
        <p:spPr>
          <a:xfrm>
            <a:off x="3034770" y="702962"/>
            <a:ext cx="1704975" cy="3143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476"/>
              </a:lnSpc>
              <a:buNone/>
            </a:pPr>
            <a:r>
              <a:rPr lang="en-US" sz="1400" b="1" kern="0" spc="-44" dirty="0">
                <a:solidFill>
                  <a:schemeClr val="accent1">
                    <a:lumMod val="20000"/>
                    <a:lumOff val="80000"/>
                  </a:scheme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Individual</a:t>
            </a:r>
            <a:endParaRPr lang="en-US" sz="14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213" y="1190625"/>
            <a:ext cx="1981200" cy="3128963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1338" y="1190625"/>
            <a:ext cx="4633913" cy="26479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57213" y="190500"/>
            <a:ext cx="1462088" cy="280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197"/>
              </a:lnSpc>
              <a:buNone/>
            </a:pPr>
            <a:r>
              <a:rPr lang="en-US" sz="1875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Research</a:t>
            </a:r>
            <a:endParaRPr lang="en-US" sz="1875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5" name="Text 1"/>
          <p:cNvSpPr/>
          <p:nvPr/>
        </p:nvSpPr>
        <p:spPr>
          <a:xfrm>
            <a:off x="1776413" y="190500"/>
            <a:ext cx="1333500" cy="280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197"/>
              </a:lnSpc>
              <a:buNone/>
            </a:pPr>
            <a:r>
              <a:rPr lang="en-US" sz="1875" b="1" dirty="0">
                <a:solidFill>
                  <a:srgbClr val="5551FF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Ideation</a:t>
            </a:r>
            <a:endParaRPr lang="en-US" sz="1875" dirty="0"/>
          </a:p>
        </p:txBody>
      </p:sp>
      <p:sp>
        <p:nvSpPr>
          <p:cNvPr id="6" name="Text 2"/>
          <p:cNvSpPr/>
          <p:nvPr/>
        </p:nvSpPr>
        <p:spPr>
          <a:xfrm>
            <a:off x="557213" y="609600"/>
            <a:ext cx="2533650" cy="200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b="1" kern="0" spc="-12" dirty="0">
                <a:solidFill>
                  <a:srgbClr val="5551FF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Scenario Building | Storyboard: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557213" y="947737"/>
            <a:ext cx="2428875" cy="200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b="1" kern="0" spc="-12" dirty="0">
                <a:solidFill>
                  <a:srgbClr val="5551FF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Phase 1: Setting user identity 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3081338" y="947737"/>
            <a:ext cx="1952625" cy="200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b="1" kern="0" spc="-12" dirty="0">
                <a:solidFill>
                  <a:srgbClr val="5551FF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Phase 2: User Context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2867025" y="190500"/>
            <a:ext cx="1352550" cy="280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197"/>
              </a:lnSpc>
              <a:buNone/>
            </a:pPr>
            <a:r>
              <a:rPr lang="en-US" sz="1875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Concept</a:t>
            </a:r>
            <a:endParaRPr lang="en-US" sz="1875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0" name="Text 6"/>
          <p:cNvSpPr/>
          <p:nvPr/>
        </p:nvSpPr>
        <p:spPr>
          <a:xfrm>
            <a:off x="2952750" y="4095750"/>
            <a:ext cx="6076950" cy="7715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lnSpc>
                <a:spcPts val="1013"/>
              </a:lnSpc>
              <a:buSzPct val="100000"/>
              <a:buChar char="•"/>
            </a:pPr>
            <a:r>
              <a:rPr lang="en-US" sz="675" b="1" kern="0" spc="-7" dirty="0">
                <a:solidFill>
                  <a:srgbClr val="1E1E1E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Jeremy, an 11-year-old boy from a modest London suburb, has lived with asthma since age 5 and is now borderline obese.</a:t>
            </a:r>
            <a:endParaRPr lang="en-US" sz="675" dirty="0"/>
          </a:p>
          <a:p>
            <a:pPr marL="342900" indent="-342900" algn="l">
              <a:lnSpc>
                <a:spcPts val="1013"/>
              </a:lnSpc>
              <a:buSzPct val="100000"/>
              <a:buChar char="•"/>
            </a:pPr>
            <a:r>
              <a:rPr lang="en-US" sz="675" b="1" kern="0" spc="-7" dirty="0">
                <a:solidFill>
                  <a:srgbClr val="1E1E1E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His weight and asthma have severely affected his confidence and participation in school activities.</a:t>
            </a:r>
            <a:endParaRPr lang="en-US" sz="675" dirty="0"/>
          </a:p>
          <a:p>
            <a:pPr marL="342900" indent="-342900" algn="l">
              <a:lnSpc>
                <a:spcPts val="1013"/>
              </a:lnSpc>
              <a:buSzPct val="100000"/>
              <a:buChar char="•"/>
            </a:pPr>
            <a:r>
              <a:rPr lang="en-US" sz="675" b="1" kern="0" spc="-7" dirty="0">
                <a:solidFill>
                  <a:srgbClr val="1E1E1E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 avoids using his inhaler in public due to stigma, often sitting out of games to hide his condition.</a:t>
            </a:r>
            <a:endParaRPr lang="en-US" sz="675" dirty="0"/>
          </a:p>
          <a:p>
            <a:pPr marL="342900" indent="-342900" algn="l">
              <a:lnSpc>
                <a:spcPts val="1013"/>
              </a:lnSpc>
              <a:buSzPct val="100000"/>
              <a:buChar char="•"/>
            </a:pPr>
            <a:r>
              <a:rPr lang="en-US" sz="675" b="1" kern="0" spc="-7" dirty="0">
                <a:solidFill>
                  <a:srgbClr val="1E1E1E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His overprotective mother limits his playtime out of fear of exercise-induced asthma attacks.</a:t>
            </a:r>
            <a:endParaRPr lang="en-US" sz="675" dirty="0"/>
          </a:p>
          <a:p>
            <a:pPr marL="342900" indent="-342900" algn="l">
              <a:lnSpc>
                <a:spcPts val="1013"/>
              </a:lnSpc>
              <a:buSzPct val="100000"/>
              <a:buChar char="•"/>
            </a:pPr>
            <a:r>
              <a:rPr lang="en-US" sz="675" b="1" kern="0" spc="-7" dirty="0">
                <a:solidFill>
                  <a:srgbClr val="1E1E1E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Long waits for pediatric asthma reviews mean outdated care plans, leading the family to rely on emergency visits instead of consistent management.</a:t>
            </a:r>
            <a:endParaRPr lang="en-US" sz="675" dirty="0"/>
          </a:p>
        </p:txBody>
      </p:sp>
      <p:sp>
        <p:nvSpPr>
          <p:cNvPr id="11" name="Text 7"/>
          <p:cNvSpPr/>
          <p:nvPr/>
        </p:nvSpPr>
        <p:spPr>
          <a:xfrm>
            <a:off x="6805613" y="3838575"/>
            <a:ext cx="1624013" cy="1095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877"/>
              </a:lnSpc>
              <a:buNone/>
            </a:pPr>
            <a:r>
              <a:rPr lang="en-US" sz="675" kern="0" spc="-7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(AI generated sketch), DALLE</a:t>
            </a:r>
            <a:endParaRPr lang="en-US" sz="6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213" y="933450"/>
            <a:ext cx="6453188" cy="1233488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1400" y="400050"/>
            <a:ext cx="1479370" cy="2106385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213" y="2886075"/>
            <a:ext cx="2343150" cy="1390650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00375" y="2886075"/>
            <a:ext cx="2333625" cy="1385888"/>
          </a:xfrm>
          <a:prstGeom prst="rect">
            <a:avLst/>
          </a:prstGeom>
        </p:spPr>
      </p:pic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10200" y="2871788"/>
            <a:ext cx="2076450" cy="1428750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>
            <a:off x="557213" y="190500"/>
            <a:ext cx="1462088" cy="280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197"/>
              </a:lnSpc>
              <a:buNone/>
            </a:pPr>
            <a:r>
              <a:rPr lang="en-US" sz="1875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Research</a:t>
            </a:r>
            <a:endParaRPr lang="en-US" sz="1875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9" name="Text 2"/>
          <p:cNvSpPr/>
          <p:nvPr/>
        </p:nvSpPr>
        <p:spPr>
          <a:xfrm>
            <a:off x="1776413" y="190500"/>
            <a:ext cx="1333500" cy="280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197"/>
              </a:lnSpc>
              <a:buNone/>
            </a:pPr>
            <a:r>
              <a:rPr lang="en-US" sz="1875" b="1" dirty="0">
                <a:solidFill>
                  <a:srgbClr val="5551FF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Ideation</a:t>
            </a:r>
            <a:endParaRPr lang="en-US" sz="1875" dirty="0"/>
          </a:p>
        </p:txBody>
      </p:sp>
      <p:sp>
        <p:nvSpPr>
          <p:cNvPr id="10" name="Text 3"/>
          <p:cNvSpPr/>
          <p:nvPr/>
        </p:nvSpPr>
        <p:spPr>
          <a:xfrm>
            <a:off x="557213" y="609600"/>
            <a:ext cx="1833562" cy="200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b="1" kern="0" spc="-12" dirty="0">
                <a:solidFill>
                  <a:srgbClr val="5551FF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Concept Generation:</a:t>
            </a:r>
            <a:endParaRPr lang="en-US" sz="1200" dirty="0"/>
          </a:p>
        </p:txBody>
      </p:sp>
      <p:sp>
        <p:nvSpPr>
          <p:cNvPr id="11" name="Text 4"/>
          <p:cNvSpPr/>
          <p:nvPr/>
        </p:nvSpPr>
        <p:spPr>
          <a:xfrm>
            <a:off x="566738" y="2571750"/>
            <a:ext cx="1071563" cy="200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b="1" kern="0" spc="-12" dirty="0">
                <a:solidFill>
                  <a:srgbClr val="5551FF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Option 1:</a:t>
            </a:r>
            <a:endParaRPr lang="en-US" sz="1200" dirty="0"/>
          </a:p>
        </p:txBody>
      </p:sp>
      <p:sp>
        <p:nvSpPr>
          <p:cNvPr id="12" name="Text 5"/>
          <p:cNvSpPr/>
          <p:nvPr/>
        </p:nvSpPr>
        <p:spPr>
          <a:xfrm>
            <a:off x="3005138" y="2571750"/>
            <a:ext cx="1071563" cy="200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b="1" kern="0" spc="-12" dirty="0">
                <a:solidFill>
                  <a:srgbClr val="5551FF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Option 2:</a:t>
            </a:r>
            <a:endParaRPr lang="en-US" sz="1200" dirty="0"/>
          </a:p>
        </p:txBody>
      </p:sp>
      <p:sp>
        <p:nvSpPr>
          <p:cNvPr id="13" name="Text 6"/>
          <p:cNvSpPr/>
          <p:nvPr/>
        </p:nvSpPr>
        <p:spPr>
          <a:xfrm>
            <a:off x="5410200" y="2571750"/>
            <a:ext cx="1071563" cy="200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b="1" kern="0" spc="-12" dirty="0">
                <a:solidFill>
                  <a:srgbClr val="5551FF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Option 3:</a:t>
            </a:r>
            <a:endParaRPr lang="en-US" sz="1200" dirty="0"/>
          </a:p>
        </p:txBody>
      </p:sp>
      <p:sp>
        <p:nvSpPr>
          <p:cNvPr id="14" name="Text 7"/>
          <p:cNvSpPr/>
          <p:nvPr/>
        </p:nvSpPr>
        <p:spPr>
          <a:xfrm>
            <a:off x="2867025" y="190500"/>
            <a:ext cx="1352550" cy="280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197"/>
              </a:lnSpc>
              <a:buNone/>
            </a:pPr>
            <a:r>
              <a:rPr lang="en-US" sz="1875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Concept</a:t>
            </a:r>
            <a:endParaRPr lang="en-US" sz="1875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" name="Text 0"/>
          <p:cNvSpPr/>
          <p:nvPr/>
        </p:nvSpPr>
        <p:spPr>
          <a:xfrm>
            <a:off x="7077075" y="2724150"/>
            <a:ext cx="314325" cy="271105"/>
          </a:xfrm>
          <a:prstGeom prst="star5">
            <a:avLst/>
          </a:prstGeom>
          <a:solidFill>
            <a:srgbClr val="FFE299"/>
          </a:solidFill>
          <a:ln w="50800">
            <a:solidFill>
              <a:srgbClr val="FF726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7688" y="2494050"/>
            <a:ext cx="2376488" cy="3001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7688" y="3176588"/>
            <a:ext cx="2376488" cy="3001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7688" y="3857625"/>
            <a:ext cx="2376488" cy="3001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00100" y="4633913"/>
            <a:ext cx="2376488" cy="4763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9300" y="2052637"/>
            <a:ext cx="614363" cy="1000125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8687" y="2695575"/>
            <a:ext cx="1028700" cy="938213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29300" y="3114675"/>
            <a:ext cx="614363" cy="742950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38687" y="2052637"/>
            <a:ext cx="1028700" cy="581025"/>
          </a:xfrm>
          <a:prstGeom prst="rect">
            <a:avLst/>
          </a:prstGeom>
        </p:spPr>
      </p:pic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29425" y="2047875"/>
            <a:ext cx="2038350" cy="2028825"/>
          </a:xfrm>
          <a:prstGeom prst="rect">
            <a:avLst/>
          </a:prstGeom>
        </p:spPr>
      </p:pic>
      <p:pic>
        <p:nvPicPr>
          <p:cNvPr id="1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10487" y="4010025"/>
            <a:ext cx="1219200" cy="812800"/>
          </a:xfrm>
          <a:prstGeom prst="rect">
            <a:avLst/>
          </a:prstGeom>
        </p:spPr>
      </p:pic>
      <p:pic>
        <p:nvPicPr>
          <p:cNvPr id="1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38938" y="3929063"/>
            <a:ext cx="971550" cy="971550"/>
          </a:xfrm>
          <a:prstGeom prst="rect">
            <a:avLst/>
          </a:prstGeom>
        </p:spPr>
      </p:pic>
      <p:pic>
        <p:nvPicPr>
          <p:cNvPr id="13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38688" y="4038600"/>
            <a:ext cx="1609725" cy="1011882"/>
          </a:xfrm>
          <a:prstGeom prst="rect">
            <a:avLst/>
          </a:prstGeom>
        </p:spPr>
      </p:pic>
      <p:sp>
        <p:nvSpPr>
          <p:cNvPr id="14" name="Text 4"/>
          <p:cNvSpPr/>
          <p:nvPr/>
        </p:nvSpPr>
        <p:spPr>
          <a:xfrm>
            <a:off x="547688" y="2052637"/>
            <a:ext cx="4324350" cy="200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lnSpc>
                <a:spcPts val="1560"/>
              </a:lnSpc>
              <a:buSzPct val="100000"/>
              <a:buFont typeface="+mj-lt"/>
              <a:buAutoNum type="arabicPeriod"/>
            </a:pPr>
            <a:r>
              <a:rPr lang="en-US" sz="1200" b="1" kern="0" spc="-12" dirty="0">
                <a:solidFill>
                  <a:srgbClr val="5551FF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Physical Activity Monitoring: </a:t>
            </a:r>
            <a:r>
              <a:rPr lang="en-US" sz="675" b="1" kern="0" spc="-7" dirty="0">
                <a:solidFill>
                  <a:srgbClr val="11111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Physical activity and breathing patterns.​</a:t>
            </a:r>
            <a:endParaRPr lang="en-US" sz="1200" dirty="0"/>
          </a:p>
        </p:txBody>
      </p:sp>
      <p:sp>
        <p:nvSpPr>
          <p:cNvPr id="15" name="Text 5"/>
          <p:cNvSpPr/>
          <p:nvPr/>
        </p:nvSpPr>
        <p:spPr>
          <a:xfrm>
            <a:off x="547688" y="2738438"/>
            <a:ext cx="4452938" cy="200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lnSpc>
                <a:spcPts val="1560"/>
              </a:lnSpc>
              <a:buSzPct val="100000"/>
              <a:buFont typeface="+mj-lt"/>
              <a:buAutoNum type="arabicPeriod"/>
            </a:pPr>
            <a:r>
              <a:rPr lang="en-US" sz="1200" b="1" kern="0" spc="-12" dirty="0">
                <a:solidFill>
                  <a:srgbClr val="5551FF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Assess Breathing Patterns: </a:t>
            </a:r>
            <a:r>
              <a:rPr lang="en-US" sz="675" b="1" kern="0" spc="-7" dirty="0">
                <a:solidFill>
                  <a:srgbClr val="11111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Subtle haptic &amp; sound feedback.</a:t>
            </a:r>
            <a:endParaRPr lang="en-US" sz="1200" dirty="0"/>
          </a:p>
        </p:txBody>
      </p:sp>
      <p:sp>
        <p:nvSpPr>
          <p:cNvPr id="16" name="Text 6"/>
          <p:cNvSpPr/>
          <p:nvPr/>
        </p:nvSpPr>
        <p:spPr>
          <a:xfrm>
            <a:off x="547688" y="3419475"/>
            <a:ext cx="5314950" cy="200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lnSpc>
                <a:spcPts val="1560"/>
              </a:lnSpc>
              <a:buSzPct val="100000"/>
              <a:buFont typeface="+mj-lt"/>
              <a:buAutoNum type="arabicPeriod"/>
            </a:pPr>
            <a:r>
              <a:rPr lang="en-US" sz="1200" b="1" kern="0" spc="-12" dirty="0">
                <a:solidFill>
                  <a:srgbClr val="5551FF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Parent- Child: </a:t>
            </a:r>
            <a:r>
              <a:rPr lang="en-US" sz="675" b="1" kern="0" spc="-7" dirty="0">
                <a:solidFill>
                  <a:srgbClr val="11111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 Co-activity and breathing sessions through the connected app.</a:t>
            </a:r>
            <a:endParaRPr lang="en-US" sz="1200" dirty="0"/>
          </a:p>
        </p:txBody>
      </p:sp>
      <p:sp>
        <p:nvSpPr>
          <p:cNvPr id="17" name="Text 7"/>
          <p:cNvSpPr/>
          <p:nvPr/>
        </p:nvSpPr>
        <p:spPr>
          <a:xfrm>
            <a:off x="547688" y="4100513"/>
            <a:ext cx="4267200" cy="200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lnSpc>
                <a:spcPts val="1560"/>
              </a:lnSpc>
              <a:buSzPct val="100000"/>
              <a:buFont typeface="+mj-lt"/>
              <a:buAutoNum type="arabicPeriod"/>
            </a:pPr>
            <a:r>
              <a:rPr lang="en-US" sz="1200" b="1" kern="0" spc="-12" dirty="0">
                <a:solidFill>
                  <a:srgbClr val="5551FF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Safe Escalation Alert:  </a:t>
            </a:r>
            <a:r>
              <a:rPr lang="en-US" sz="675" b="1" kern="0" spc="-7" dirty="0">
                <a:solidFill>
                  <a:srgbClr val="11111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breathing remains irregular, GP and carer.​</a:t>
            </a:r>
            <a:endParaRPr lang="en-US" sz="1200" dirty="0"/>
          </a:p>
        </p:txBody>
      </p:sp>
      <p:sp>
        <p:nvSpPr>
          <p:cNvPr id="18" name="Text 8"/>
          <p:cNvSpPr/>
          <p:nvPr/>
        </p:nvSpPr>
        <p:spPr>
          <a:xfrm>
            <a:off x="557213" y="190500"/>
            <a:ext cx="1462088" cy="280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197"/>
              </a:lnSpc>
              <a:buNone/>
            </a:pPr>
            <a:r>
              <a:rPr lang="en-US" sz="1875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Research</a:t>
            </a:r>
            <a:endParaRPr lang="en-US" sz="1875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9" name="Text 9"/>
          <p:cNvSpPr/>
          <p:nvPr/>
        </p:nvSpPr>
        <p:spPr>
          <a:xfrm>
            <a:off x="1776413" y="190500"/>
            <a:ext cx="1333500" cy="280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197"/>
              </a:lnSpc>
              <a:buNone/>
            </a:pPr>
            <a:r>
              <a:rPr lang="en-US" sz="1875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Ideation</a:t>
            </a:r>
            <a:endParaRPr lang="en-US" sz="1875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0" name="Text 10"/>
          <p:cNvSpPr/>
          <p:nvPr/>
        </p:nvSpPr>
        <p:spPr>
          <a:xfrm>
            <a:off x="2867025" y="190500"/>
            <a:ext cx="1352550" cy="280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197"/>
              </a:lnSpc>
              <a:buNone/>
            </a:pPr>
            <a:r>
              <a:rPr lang="en-US" sz="1875" b="1" dirty="0">
                <a:solidFill>
                  <a:srgbClr val="5551FF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Concept</a:t>
            </a:r>
            <a:endParaRPr lang="en-US" sz="1875" dirty="0"/>
          </a:p>
        </p:txBody>
      </p:sp>
      <p:sp>
        <p:nvSpPr>
          <p:cNvPr id="21" name="Text 11"/>
          <p:cNvSpPr/>
          <p:nvPr/>
        </p:nvSpPr>
        <p:spPr>
          <a:xfrm>
            <a:off x="547688" y="666750"/>
            <a:ext cx="3062288" cy="280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197"/>
              </a:lnSpc>
              <a:buNone/>
            </a:pPr>
            <a:r>
              <a:rPr lang="en-US" sz="1875" b="1" dirty="0">
                <a:solidFill>
                  <a:srgbClr val="5551FF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Product → AESTHESITY</a:t>
            </a:r>
            <a:endParaRPr lang="en-US" sz="1875" dirty="0"/>
          </a:p>
        </p:txBody>
      </p:sp>
      <p:sp>
        <p:nvSpPr>
          <p:cNvPr id="22" name="Text 12"/>
          <p:cNvSpPr/>
          <p:nvPr/>
        </p:nvSpPr>
        <p:spPr>
          <a:xfrm>
            <a:off x="557213" y="1652588"/>
            <a:ext cx="1581150" cy="280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197"/>
              </a:lnSpc>
              <a:buNone/>
            </a:pPr>
            <a:r>
              <a:rPr lang="en-US" sz="1875" b="1" dirty="0">
                <a:solidFill>
                  <a:srgbClr val="5551FF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Functions:</a:t>
            </a:r>
            <a:endParaRPr lang="en-US" sz="1875" dirty="0"/>
          </a:p>
        </p:txBody>
      </p:sp>
      <p:sp>
        <p:nvSpPr>
          <p:cNvPr id="23" name="Text 13"/>
          <p:cNvSpPr/>
          <p:nvPr/>
        </p:nvSpPr>
        <p:spPr>
          <a:xfrm>
            <a:off x="4981575" y="1652588"/>
            <a:ext cx="2333625" cy="280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197"/>
              </a:lnSpc>
              <a:buNone/>
            </a:pPr>
            <a:r>
              <a:rPr lang="en-US" sz="1875" b="1" dirty="0">
                <a:solidFill>
                  <a:srgbClr val="5551FF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Sketch to Design:</a:t>
            </a:r>
            <a:endParaRPr lang="en-US" sz="1875" dirty="0"/>
          </a:p>
        </p:txBody>
      </p:sp>
      <p:sp>
        <p:nvSpPr>
          <p:cNvPr id="24" name="Text 14"/>
          <p:cNvSpPr/>
          <p:nvPr/>
        </p:nvSpPr>
        <p:spPr>
          <a:xfrm>
            <a:off x="557213" y="1033462"/>
            <a:ext cx="8820150" cy="471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230"/>
              </a:lnSpc>
              <a:buNone/>
            </a:pPr>
            <a:r>
              <a:rPr lang="en-US" sz="1050" b="1" dirty="0">
                <a:solidFill>
                  <a:srgbClr val="111111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Is a compact wearable system designed to support children with obesity-linked asthma by promoting confident, independent breathing management. The product consists of two connected components: a soft, skin-safe breathing patch placed on the chest and a magnetic outer clasp worn over clothing.  Ensuring accurate breathing detection while maintaining comfort and a non-medical appearance.​</a:t>
            </a:r>
            <a:endParaRPr lang="en-US" sz="1050" dirty="0"/>
          </a:p>
        </p:txBody>
      </p:sp>
      <p:sp>
        <p:nvSpPr>
          <p:cNvPr id="25" name="Text 15"/>
          <p:cNvSpPr/>
          <p:nvPr/>
        </p:nvSpPr>
        <p:spPr>
          <a:xfrm>
            <a:off x="5067300" y="3695700"/>
            <a:ext cx="852488" cy="1095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877"/>
              </a:lnSpc>
              <a:buNone/>
            </a:pPr>
            <a:r>
              <a:rPr lang="en-US" sz="675" b="1" kern="0" spc="-7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Iterations</a:t>
            </a:r>
            <a:endParaRPr lang="en-US" sz="675" dirty="0"/>
          </a:p>
        </p:txBody>
      </p:sp>
      <p:sp>
        <p:nvSpPr>
          <p:cNvPr id="26" name="Text 16"/>
          <p:cNvSpPr/>
          <p:nvPr/>
        </p:nvSpPr>
        <p:spPr>
          <a:xfrm>
            <a:off x="7862888" y="4843463"/>
            <a:ext cx="1343025" cy="1095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877"/>
              </a:lnSpc>
              <a:buNone/>
            </a:pPr>
            <a:r>
              <a:rPr lang="en-US" sz="675" kern="0" spc="-7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Reference: </a:t>
            </a:r>
            <a:r>
              <a:rPr lang="en-US" sz="675" u="sng" kern="0" spc="-7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Humane AI </a:t>
            </a:r>
            <a:endParaRPr lang="en-US" sz="675" dirty="0"/>
          </a:p>
        </p:txBody>
      </p:sp>
      <p:sp>
        <p:nvSpPr>
          <p:cNvPr id="27" name="Text 17"/>
          <p:cNvSpPr/>
          <p:nvPr/>
        </p:nvSpPr>
        <p:spPr>
          <a:xfrm>
            <a:off x="7496175" y="1876425"/>
            <a:ext cx="657225" cy="1095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877"/>
              </a:lnSpc>
              <a:buNone/>
            </a:pPr>
            <a:r>
              <a:rPr lang="en-US" sz="675" b="1" kern="0" spc="-7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</a:t>
            </a:r>
            <a:endParaRPr lang="en-US" sz="675" dirty="0"/>
          </a:p>
        </p:txBody>
      </p:sp>
      <p:sp>
        <p:nvSpPr>
          <p:cNvPr id="28" name="Text 18"/>
          <p:cNvSpPr/>
          <p:nvPr/>
        </p:nvSpPr>
        <p:spPr>
          <a:xfrm>
            <a:off x="6805613" y="4843463"/>
            <a:ext cx="1290638" cy="1095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877"/>
              </a:lnSpc>
              <a:buNone/>
            </a:pPr>
            <a:r>
              <a:rPr lang="en-US" sz="675" kern="0" spc="-7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Generated: DALLE</a:t>
            </a:r>
            <a:endParaRPr lang="en-US" sz="6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213" y="1143000"/>
            <a:ext cx="6462713" cy="36004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57213" y="190500"/>
            <a:ext cx="1462088" cy="280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197"/>
              </a:lnSpc>
              <a:buNone/>
            </a:pPr>
            <a:r>
              <a:rPr lang="en-US" sz="1875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Research</a:t>
            </a:r>
            <a:endParaRPr lang="en-US" sz="1875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4" name="Text 1"/>
          <p:cNvSpPr/>
          <p:nvPr/>
        </p:nvSpPr>
        <p:spPr>
          <a:xfrm>
            <a:off x="1776413" y="190500"/>
            <a:ext cx="1333500" cy="280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197"/>
              </a:lnSpc>
              <a:buNone/>
            </a:pPr>
            <a:r>
              <a:rPr lang="en-US" sz="1875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Ideation</a:t>
            </a:r>
            <a:endParaRPr lang="en-US" sz="1875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2867025" y="190500"/>
            <a:ext cx="1352550" cy="280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197"/>
              </a:lnSpc>
              <a:buNone/>
            </a:pPr>
            <a:r>
              <a:rPr lang="en-US" sz="1875" b="1" dirty="0">
                <a:solidFill>
                  <a:srgbClr val="5551FF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Concept</a:t>
            </a:r>
            <a:endParaRPr lang="en-US" sz="1875" dirty="0"/>
          </a:p>
        </p:txBody>
      </p:sp>
      <p:sp>
        <p:nvSpPr>
          <p:cNvPr id="6" name="Text 3"/>
          <p:cNvSpPr/>
          <p:nvPr/>
        </p:nvSpPr>
        <p:spPr>
          <a:xfrm>
            <a:off x="547688" y="666750"/>
            <a:ext cx="3290888" cy="280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197"/>
              </a:lnSpc>
              <a:buNone/>
            </a:pPr>
            <a:r>
              <a:rPr lang="en-US" sz="1875" dirty="0">
                <a:solidFill>
                  <a:srgbClr val="5551FF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Final Concept (As a group)</a:t>
            </a:r>
            <a:endParaRPr lang="en-US" sz="18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525" y="4343400"/>
            <a:ext cx="488505" cy="488505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459" y="4344520"/>
            <a:ext cx="102245" cy="486265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6852" y="4344520"/>
            <a:ext cx="102245" cy="48626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4831" y="4650136"/>
            <a:ext cx="459893" cy="34082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4831" y="4491087"/>
            <a:ext cx="459893" cy="34082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381000" y="590550"/>
            <a:ext cx="76581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688"/>
              </a:lnSpc>
              <a:buNone/>
            </a:pPr>
            <a:r>
              <a:rPr lang="en-US" sz="2400" b="1" kern="0" spc="-48" dirty="0">
                <a:solidFill>
                  <a:srgbClr val="5551FF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References </a:t>
            </a:r>
            <a:r>
              <a:rPr lang="en-US" sz="2400" b="1" kern="0" spc="-48" dirty="0">
                <a:solidFill>
                  <a:schemeClr val="accent1">
                    <a:lumMod val="20000"/>
                    <a:lumOff val="80000"/>
                    <a:alpha val="99000"/>
                  </a:scheme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(Individual): </a:t>
            </a:r>
            <a:endParaRPr lang="en-US" sz="2400" dirty="0">
              <a:solidFill>
                <a:schemeClr val="accent1">
                  <a:lumMod val="20000"/>
                  <a:lumOff val="80000"/>
                  <a:alpha val="99000"/>
                </a:schemeClr>
              </a:solidFill>
            </a:endParaRPr>
          </a:p>
        </p:txBody>
      </p:sp>
      <p:sp>
        <p:nvSpPr>
          <p:cNvPr id="8" name="Text 1"/>
          <p:cNvSpPr/>
          <p:nvPr/>
        </p:nvSpPr>
        <p:spPr>
          <a:xfrm>
            <a:off x="481012" y="1157288"/>
            <a:ext cx="8543925" cy="28289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16"/>
              </a:lnSpc>
              <a:buNone/>
            </a:pPr>
            <a:r>
              <a:rPr lang="en-US" sz="1050" kern="0" spc="-11" dirty="0">
                <a:solidFill>
                  <a:srgbClr val="111111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[1] ”Asthma and obesity in children of the UK”,  </a:t>
            </a:r>
            <a:r>
              <a:rPr lang="en-US" sz="1050" u="sng" kern="0" spc="-11" dirty="0">
                <a:solidFill>
                  <a:srgbClr val="111111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https://adc.bmj.com/content/110/Suppl_1/A118.abstract</a:t>
            </a:r>
            <a:endParaRPr lang="en-US" sz="1050" dirty="0"/>
          </a:p>
          <a:p>
            <a:pPr marL="0" indent="0" algn="l">
              <a:lnSpc>
                <a:spcPts val="2016"/>
              </a:lnSpc>
              <a:buNone/>
            </a:pPr>
            <a:r>
              <a:rPr lang="en-US" sz="1050" kern="0" spc="-11" dirty="0">
                <a:solidFill>
                  <a:srgbClr val="111111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[2] “Early childhood obesity and subsequent asthma diagnoses”, </a:t>
            </a:r>
            <a:r>
              <a:rPr lang="en-US" sz="1050" u="sng" kern="0" spc="-11" dirty="0">
                <a:solidFill>
                  <a:srgbClr val="111111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https://ijpds.org/article/view/2374</a:t>
            </a:r>
            <a:endParaRPr lang="en-US" sz="1050" dirty="0"/>
          </a:p>
          <a:p>
            <a:pPr marL="0" indent="0" algn="l">
              <a:lnSpc>
                <a:spcPts val="2016"/>
              </a:lnSpc>
              <a:buNone/>
            </a:pPr>
            <a:r>
              <a:rPr lang="en-US" sz="1050" kern="0" spc="-11" dirty="0">
                <a:solidFill>
                  <a:srgbClr val="111111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[3] “Childhood patterns of overweight and wheeze and subsequent risk of current asthma and obesity in adolescence”, </a:t>
            </a:r>
            <a:r>
              <a:rPr lang="en-US" sz="1050" u="sng" kern="0" spc="-11" dirty="0">
                <a:solidFill>
                  <a:srgbClr val="111111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https://onlinelibrary.wiley.com/doi/10.1111/ppe.12760</a:t>
            </a:r>
            <a:endParaRPr lang="en-US" sz="1050" dirty="0"/>
          </a:p>
          <a:p>
            <a:pPr marL="0" indent="0" algn="l">
              <a:lnSpc>
                <a:spcPts val="2016"/>
              </a:lnSpc>
              <a:buNone/>
            </a:pPr>
            <a:r>
              <a:rPr lang="en-US" sz="1050" kern="0" spc="-11" dirty="0">
                <a:solidFill>
                  <a:srgbClr val="111111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[4] “Management of the pediatric patient with asthma and obesity”,  </a:t>
            </a:r>
            <a:r>
              <a:rPr lang="en-US" sz="1050" u="sng" kern="0" spc="-11" dirty="0">
                <a:solidFill>
                  <a:srgbClr val="111111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https://www.annallergy.org/article/S1081-1206(23)01301-7/fulltext</a:t>
            </a:r>
            <a:endParaRPr lang="en-US" sz="1050" dirty="0"/>
          </a:p>
          <a:p>
            <a:pPr marL="0" indent="0" algn="l">
              <a:lnSpc>
                <a:spcPts val="2016"/>
              </a:lnSpc>
              <a:buNone/>
            </a:pPr>
            <a:r>
              <a:rPr lang="en-US" sz="1050" kern="0" spc="-11" dirty="0">
                <a:solidFill>
                  <a:srgbClr val="111111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[5] “Assessment of the Physical Activity of Children with Asthma Bronchiale”, </a:t>
            </a:r>
            <a:r>
              <a:rPr lang="en-US" sz="1050" u="sng" kern="0" spc="-11" dirty="0">
                <a:solidFill>
                  <a:srgbClr val="111111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https://www.mdpi.com/2075-4663/12/4/114</a:t>
            </a:r>
            <a:endParaRPr lang="en-US" sz="1050" dirty="0"/>
          </a:p>
          <a:p>
            <a:pPr marL="0" indent="0" algn="l">
              <a:lnSpc>
                <a:spcPts val="2016"/>
              </a:lnSpc>
              <a:buNone/>
            </a:pPr>
            <a:r>
              <a:rPr lang="en-US" sz="1050" kern="0" spc="-11" dirty="0">
                <a:solidFill>
                  <a:srgbClr val="111111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[6] “Obesity-related asthma in children and adolescents”,  </a:t>
            </a:r>
            <a:r>
              <a:rPr lang="en-US" sz="1050" u="sng" kern="0" spc="-11" dirty="0">
                <a:solidFill>
                  <a:srgbClr val="111111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https://www.thelancet.com/journals/lanchi/article/PIIS2352-4642(22)00185-7/abstract</a:t>
            </a:r>
            <a:endParaRPr lang="en-US" sz="1050" dirty="0"/>
          </a:p>
          <a:p>
            <a:pPr marL="0" indent="0" algn="l">
              <a:lnSpc>
                <a:spcPts val="2016"/>
              </a:lnSpc>
              <a:buNone/>
            </a:pPr>
            <a:r>
              <a:rPr lang="en-US" sz="1050" kern="0" spc="-11" dirty="0">
                <a:solidFill>
                  <a:srgbClr val="111111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[7] “Current lifestyle and risk for asthma: Sedentary lifestyle, obesity, and ETS”, </a:t>
            </a:r>
            <a:r>
              <a:rPr lang="en-US" sz="1050" u="sng" kern="0" spc="-11" dirty="0">
                <a:solidFill>
                  <a:srgbClr val="111111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https://pubmed.ncbi.nlm.nih.gov/40682245/</a:t>
            </a:r>
            <a:endParaRPr lang="en-US" sz="1050" dirty="0"/>
          </a:p>
          <a:p>
            <a:pPr marL="0" indent="0" algn="l">
              <a:lnSpc>
                <a:spcPts val="2016"/>
              </a:lnSpc>
              <a:buNone/>
            </a:pPr>
            <a:r>
              <a:rPr lang="en-US" sz="1050" kern="0" spc="-11" dirty="0">
                <a:solidFill>
                  <a:srgbClr val="111111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[8] “Body mass index and acute asthma severity among children presenting to the emergency department”, </a:t>
            </a:r>
            <a:r>
              <a:rPr lang="en-US" sz="1050" u="sng" kern="0" spc="-11" dirty="0">
                <a:solidFill>
                  <a:srgbClr val="111111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  <a:hlinkClick r:id="rId1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https://onlinelibrary.wiley.com/doi/10.1111/j.1399-3038.2009.00911.x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098FC7-E63E-CFEA-C41A-5E7824380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753E4187-6889-01FC-6003-B920D302F7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525" y="4495800"/>
            <a:ext cx="488505" cy="488505"/>
          </a:xfrm>
          <a:prstGeom prst="rect">
            <a:avLst/>
          </a:prstGeom>
        </p:spPr>
      </p:pic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8AFB65A3-571F-DD4A-12C9-71E2CFFB4E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459" y="4496920"/>
            <a:ext cx="102245" cy="486265"/>
          </a:xfrm>
          <a:prstGeom prst="rect">
            <a:avLst/>
          </a:prstGeom>
        </p:spPr>
      </p:pic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98161C5A-5FD1-8451-3BCD-3409A1DBF2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6852" y="4496920"/>
            <a:ext cx="102245" cy="486265"/>
          </a:xfrm>
          <a:prstGeom prst="rect">
            <a:avLst/>
          </a:prstGeom>
        </p:spPr>
      </p:pic>
      <p:pic>
        <p:nvPicPr>
          <p:cNvPr id="5" name="Image 3" descr="preencoded.png">
            <a:extLst>
              <a:ext uri="{FF2B5EF4-FFF2-40B4-BE49-F238E27FC236}">
                <a16:creationId xmlns:a16="http://schemas.microsoft.com/office/drawing/2014/main" id="{84827817-8207-0ADD-682C-D7970AE6755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4831" y="4802536"/>
            <a:ext cx="459893" cy="34082"/>
          </a:xfrm>
          <a:prstGeom prst="rect">
            <a:avLst/>
          </a:prstGeom>
        </p:spPr>
      </p:pic>
      <p:pic>
        <p:nvPicPr>
          <p:cNvPr id="6" name="Image 4" descr="preencoded.png">
            <a:extLst>
              <a:ext uri="{FF2B5EF4-FFF2-40B4-BE49-F238E27FC236}">
                <a16:creationId xmlns:a16="http://schemas.microsoft.com/office/drawing/2014/main" id="{5CDEEE37-33AB-E4EC-495F-9BA3D68EB8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4831" y="4643487"/>
            <a:ext cx="459893" cy="34082"/>
          </a:xfrm>
          <a:prstGeom prst="rect">
            <a:avLst/>
          </a:prstGeom>
        </p:spPr>
      </p:pic>
      <p:sp>
        <p:nvSpPr>
          <p:cNvPr id="7" name="Text 0">
            <a:extLst>
              <a:ext uri="{FF2B5EF4-FFF2-40B4-BE49-F238E27FC236}">
                <a16:creationId xmlns:a16="http://schemas.microsoft.com/office/drawing/2014/main" id="{C1059070-4120-2D34-E4DB-66B8B9191E9F}"/>
              </a:ext>
            </a:extLst>
          </p:cNvPr>
          <p:cNvSpPr/>
          <p:nvPr/>
        </p:nvSpPr>
        <p:spPr>
          <a:xfrm>
            <a:off x="390525" y="216839"/>
            <a:ext cx="76581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688"/>
              </a:lnSpc>
              <a:buNone/>
            </a:pPr>
            <a:r>
              <a:rPr lang="en-US" sz="2400" b="1" kern="0" spc="-48" dirty="0">
                <a:solidFill>
                  <a:srgbClr val="5551FF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References </a:t>
            </a:r>
            <a:r>
              <a:rPr lang="en-US" sz="2400" b="1" kern="0" spc="-48" dirty="0">
                <a:solidFill>
                  <a:schemeClr val="accent1">
                    <a:lumMod val="20000"/>
                    <a:lumOff val="80000"/>
                    <a:alpha val="99000"/>
                  </a:scheme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(Group): </a:t>
            </a:r>
            <a:endParaRPr lang="en-US" sz="2400" dirty="0">
              <a:solidFill>
                <a:schemeClr val="accent1">
                  <a:lumMod val="20000"/>
                  <a:lumOff val="80000"/>
                  <a:alpha val="99000"/>
                </a:schemeClr>
              </a:solidFill>
            </a:endParaRPr>
          </a:p>
        </p:txBody>
      </p:sp>
      <p:pic>
        <p:nvPicPr>
          <p:cNvPr id="14" name="Picture 13" descr="A close-up of a document&#10;&#10;AI-generated content may be incorrect.">
            <a:extLst>
              <a:ext uri="{FF2B5EF4-FFF2-40B4-BE49-F238E27FC236}">
                <a16:creationId xmlns:a16="http://schemas.microsoft.com/office/drawing/2014/main" id="{040587CA-1257-D287-5B80-275C0249AE4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6852" y="559739"/>
            <a:ext cx="7658100" cy="3752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19374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597613-B196-A0F2-1F85-433110313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130D9B31-01AB-6C0A-A972-2188A0DDC5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525" y="4495800"/>
            <a:ext cx="488505" cy="488505"/>
          </a:xfrm>
          <a:prstGeom prst="rect">
            <a:avLst/>
          </a:prstGeom>
        </p:spPr>
      </p:pic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F18AC728-0F08-F950-2F37-FF76BF7893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459" y="4496920"/>
            <a:ext cx="102245" cy="486265"/>
          </a:xfrm>
          <a:prstGeom prst="rect">
            <a:avLst/>
          </a:prstGeom>
        </p:spPr>
      </p:pic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54A56ED8-B8A5-3007-CF44-015F3F68C4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6852" y="4496920"/>
            <a:ext cx="102245" cy="486265"/>
          </a:xfrm>
          <a:prstGeom prst="rect">
            <a:avLst/>
          </a:prstGeom>
        </p:spPr>
      </p:pic>
      <p:pic>
        <p:nvPicPr>
          <p:cNvPr id="5" name="Image 3" descr="preencoded.png">
            <a:extLst>
              <a:ext uri="{FF2B5EF4-FFF2-40B4-BE49-F238E27FC236}">
                <a16:creationId xmlns:a16="http://schemas.microsoft.com/office/drawing/2014/main" id="{DFF806C7-B00A-2C8A-46E3-6805BA38AB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4831" y="4802536"/>
            <a:ext cx="459893" cy="34082"/>
          </a:xfrm>
          <a:prstGeom prst="rect">
            <a:avLst/>
          </a:prstGeom>
        </p:spPr>
      </p:pic>
      <p:pic>
        <p:nvPicPr>
          <p:cNvPr id="6" name="Image 4" descr="preencoded.png">
            <a:extLst>
              <a:ext uri="{FF2B5EF4-FFF2-40B4-BE49-F238E27FC236}">
                <a16:creationId xmlns:a16="http://schemas.microsoft.com/office/drawing/2014/main" id="{8F961DA1-C482-FD9A-9FD9-D309D054D9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4831" y="4643487"/>
            <a:ext cx="459893" cy="34082"/>
          </a:xfrm>
          <a:prstGeom prst="rect">
            <a:avLst/>
          </a:prstGeom>
        </p:spPr>
      </p:pic>
      <p:sp>
        <p:nvSpPr>
          <p:cNvPr id="7" name="Text 0">
            <a:extLst>
              <a:ext uri="{FF2B5EF4-FFF2-40B4-BE49-F238E27FC236}">
                <a16:creationId xmlns:a16="http://schemas.microsoft.com/office/drawing/2014/main" id="{ED4EE04D-0519-DF27-9C93-89D61F337219}"/>
              </a:ext>
            </a:extLst>
          </p:cNvPr>
          <p:cNvSpPr/>
          <p:nvPr/>
        </p:nvSpPr>
        <p:spPr>
          <a:xfrm>
            <a:off x="390525" y="216839"/>
            <a:ext cx="76581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688"/>
              </a:lnSpc>
              <a:buNone/>
            </a:pPr>
            <a:r>
              <a:rPr lang="en-US" sz="2400" b="1" kern="0" spc="-48" dirty="0">
                <a:solidFill>
                  <a:srgbClr val="5551FF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References </a:t>
            </a:r>
            <a:r>
              <a:rPr lang="en-US" sz="2400" b="1" kern="0" spc="-48" dirty="0">
                <a:solidFill>
                  <a:schemeClr val="accent1">
                    <a:lumMod val="20000"/>
                    <a:lumOff val="80000"/>
                    <a:alpha val="99000"/>
                  </a:scheme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(Group): </a:t>
            </a:r>
            <a:endParaRPr lang="en-US" sz="2400" dirty="0">
              <a:solidFill>
                <a:schemeClr val="accent1">
                  <a:lumMod val="20000"/>
                  <a:lumOff val="80000"/>
                  <a:alpha val="99000"/>
                </a:schemeClr>
              </a:solidFill>
            </a:endParaRPr>
          </a:p>
        </p:txBody>
      </p:sp>
      <p:pic>
        <p:nvPicPr>
          <p:cNvPr id="9" name="Picture 8" descr="A close up of a text&#10;&#10;AI-generated content may be incorrect.">
            <a:extLst>
              <a:ext uri="{FF2B5EF4-FFF2-40B4-BE49-F238E27FC236}">
                <a16:creationId xmlns:a16="http://schemas.microsoft.com/office/drawing/2014/main" id="{21977446-E880-DE3F-B115-F4AF430C7B7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4831" y="684706"/>
            <a:ext cx="7772400" cy="1133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40563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640</Words>
  <Application>Microsoft Macintosh PowerPoint</Application>
  <PresentationFormat>On-screen Show (16:9)</PresentationFormat>
  <Paragraphs>80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Inter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Chand, Payal B</cp:lastModifiedBy>
  <cp:revision>3</cp:revision>
  <dcterms:created xsi:type="dcterms:W3CDTF">2025-11-03T08:03:07Z</dcterms:created>
  <dcterms:modified xsi:type="dcterms:W3CDTF">2025-11-03T08:15:41Z</dcterms:modified>
</cp:coreProperties>
</file>